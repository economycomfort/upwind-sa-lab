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2" r:id="rId1"/>
  </p:sldMasterIdLst>
  <p:notesMasterIdLst>
    <p:notesMasterId r:id="rId16"/>
  </p:notesMasterIdLst>
  <p:sldIdLst>
    <p:sldId id="2147481546" r:id="rId2"/>
    <p:sldId id="2147481545" r:id="rId3"/>
    <p:sldId id="288" r:id="rId4"/>
    <p:sldId id="305" r:id="rId5"/>
    <p:sldId id="300" r:id="rId6"/>
    <p:sldId id="319" r:id="rId7"/>
    <p:sldId id="337" r:id="rId8"/>
    <p:sldId id="325" r:id="rId9"/>
    <p:sldId id="339" r:id="rId10"/>
    <p:sldId id="347" r:id="rId11"/>
    <p:sldId id="342" r:id="rId12"/>
    <p:sldId id="344" r:id="rId13"/>
    <p:sldId id="2147481547" r:id="rId14"/>
    <p:sldId id="34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64"/>
    <p:restoredTop sz="82947"/>
  </p:normalViewPr>
  <p:slideViewPr>
    <p:cSldViewPr snapToGrid="0">
      <p:cViewPr varScale="1">
        <p:scale>
          <a:sx n="154" d="100"/>
          <a:sy n="154" d="100"/>
        </p:scale>
        <p:origin x="216"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7893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75453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A0B2D5-E695-DE40-B1FD-7ABEFFF7EADE}" type="slidenum">
              <a:rPr lang="en-US" smtClean="0"/>
              <a:t>4</a:t>
            </a:fld>
            <a:endParaRPr lang="en-US"/>
          </a:p>
        </p:txBody>
      </p:sp>
    </p:spTree>
    <p:extLst>
      <p:ext uri="{BB962C8B-B14F-4D97-AF65-F5344CB8AC3E}">
        <p14:creationId xmlns:p14="http://schemas.microsoft.com/office/powerpoint/2010/main" val="703467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A0B2D5-E695-DE40-B1FD-7ABEFFF7EADE}" type="slidenum">
              <a:rPr lang="en-US" smtClean="0"/>
              <a:t>9</a:t>
            </a:fld>
            <a:endParaRPr lang="en-US"/>
          </a:p>
        </p:txBody>
      </p:sp>
    </p:spTree>
    <p:extLst>
      <p:ext uri="{BB962C8B-B14F-4D97-AF65-F5344CB8AC3E}">
        <p14:creationId xmlns:p14="http://schemas.microsoft.com/office/powerpoint/2010/main" val="2810857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A0B2D5-E695-DE40-B1FD-7ABEFFF7EADE}" type="slidenum">
              <a:rPr lang="en-US" smtClean="0"/>
              <a:t>10</a:t>
            </a:fld>
            <a:endParaRPr lang="en-US"/>
          </a:p>
        </p:txBody>
      </p:sp>
    </p:spTree>
    <p:extLst>
      <p:ext uri="{BB962C8B-B14F-4D97-AF65-F5344CB8AC3E}">
        <p14:creationId xmlns:p14="http://schemas.microsoft.com/office/powerpoint/2010/main" val="916230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6A0B2D5-E695-DE40-B1FD-7ABEFFF7EADE}" type="slidenum">
              <a:rPr lang="en-US" smtClean="0"/>
              <a:t>11</a:t>
            </a:fld>
            <a:endParaRPr lang="en-US"/>
          </a:p>
        </p:txBody>
      </p:sp>
    </p:spTree>
    <p:extLst>
      <p:ext uri="{BB962C8B-B14F-4D97-AF65-F5344CB8AC3E}">
        <p14:creationId xmlns:p14="http://schemas.microsoft.com/office/powerpoint/2010/main" val="3969742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460355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gradFill rotWithShape="1">
          <a:gsLst>
            <a:gs pos="0">
              <a:srgbClr val="0B0E14"/>
            </a:gs>
            <a:gs pos="45000">
              <a:srgbClr val="121A3D"/>
            </a:gs>
            <a:gs pos="100000">
              <a:srgbClr val="1E1035"/>
            </a:gs>
          </a:gsLst>
          <a:lin ang="2700000" scaled="1"/>
        </a:gradFill>
        <a:effectLst/>
      </p:bgPr>
    </p:bg>
    <p:spTree>
      <p:nvGrpSpPr>
        <p:cNvPr id="1" name=""/>
        <p:cNvGrpSpPr/>
        <p:nvPr/>
      </p:nvGrpSpPr>
      <p:grpSpPr>
        <a:xfrm>
          <a:off x="0" y="0"/>
          <a:ext cx="0" cy="0"/>
          <a:chOff x="0" y="0"/>
          <a:chExt cx="0" cy="0"/>
        </a:xfrm>
      </p:grpSpPr>
      <p:sp>
        <p:nvSpPr>
          <p:cNvPr id="950" name="GlowAccentBlue"/>
          <p:cNvSpPr/>
          <p:nvPr/>
        </p:nvSpPr>
        <p:spPr>
          <a:xfrm>
            <a:off x="-2000000" y="-1800000"/>
            <a:ext cx="6800000" cy="6800000"/>
          </a:xfrm>
          <a:prstGeom prst="ellipse">
            <a:avLst/>
          </a:prstGeom>
          <a:solidFill>
            <a:srgbClr val="1863DC">
              <a:alpha val="14000"/>
            </a:srgbClr>
          </a:solidFill>
          <a:ln>
            <a:noFill/>
          </a:ln>
          <a:effectLst>
            <a:softEdge rad="1200000"/>
          </a:effectLst>
        </p:spPr>
        <p:txBody>
          <a:bodyPr/>
          <a:lstStyle/>
          <a:p>
            <a:endParaRPr/>
          </a:p>
        </p:txBody>
      </p:sp>
      <p:sp>
        <p:nvSpPr>
          <p:cNvPr id="951" name="GlowAccentPurple"/>
          <p:cNvSpPr/>
          <p:nvPr/>
        </p:nvSpPr>
        <p:spPr>
          <a:xfrm>
            <a:off x="6600000" y="2600000"/>
            <a:ext cx="5600000" cy="5600000"/>
          </a:xfrm>
          <a:prstGeom prst="ellipse">
            <a:avLst/>
          </a:prstGeom>
          <a:solidFill>
            <a:srgbClr val="891BC7">
              <a:alpha val="12000"/>
            </a:srgbClr>
          </a:solidFill>
          <a:ln>
            <a:noFill/>
          </a:ln>
          <a:effectLst>
            <a:softEdge rad="1200000"/>
          </a:effectLst>
        </p:spPr>
        <p:txBody>
          <a:bodyPr/>
          <a:lstStyle/>
          <a:p>
            <a:endParaRPr/>
          </a:p>
        </p:txBody>
      </p:sp>
      <p:sp>
        <p:nvSpPr>
          <p:cNvPr id="2" name="Title 1">
            <a:extLst>
              <a:ext uri="{FF2B5EF4-FFF2-40B4-BE49-F238E27FC236}">
                <a16:creationId xmlns:a16="http://schemas.microsoft.com/office/drawing/2014/main" id="{558AC5CC-077D-F390-A2A6-A8CBDC93C7DD}"/>
              </a:ext>
            </a:extLst>
          </p:cNvPr>
          <p:cNvSpPr>
            <a:spLocks noGrp="1"/>
          </p:cNvSpPr>
          <p:nvPr>
            <p:ph type="ctrTitle"/>
          </p:nvPr>
        </p:nvSpPr>
        <p:spPr>
          <a:xfrm>
            <a:off x="1524000" y="1122363"/>
            <a:ext cx="9144000" cy="2387600"/>
          </a:xfrm>
        </p:spPr>
        <p:txBody>
          <a:bodyPr anchor="b"/>
          <a:lstStyle>
            <a:lvl1pPr algn="ctr">
              <a:defRPr sz="6000">
                <a:solidFill>
                  <a:srgbClr val="F5F6FA"/>
                </a:solidFill>
              </a:defRPr>
            </a:lvl1pPr>
          </a:lstStyle>
          <a:p>
            <a:r>
              <a:rPr lang="en-US"/>
              <a:t>Click to edit Master title style</a:t>
            </a:r>
          </a:p>
        </p:txBody>
      </p:sp>
      <p:sp>
        <p:nvSpPr>
          <p:cNvPr id="3" name="Subtitle 2">
            <a:extLst>
              <a:ext uri="{FF2B5EF4-FFF2-40B4-BE49-F238E27FC236}">
                <a16:creationId xmlns:a16="http://schemas.microsoft.com/office/drawing/2014/main" id="{F9BA9380-177B-4395-1554-6662B35B05BA}"/>
              </a:ext>
            </a:extLst>
          </p:cNvPr>
          <p:cNvSpPr>
            <a:spLocks noGrp="1"/>
          </p:cNvSpPr>
          <p:nvPr>
            <p:ph type="subTitle" idx="1"/>
          </p:nvPr>
        </p:nvSpPr>
        <p:spPr>
          <a:xfrm>
            <a:off x="1524000" y="3602038"/>
            <a:ext cx="9144000" cy="1655762"/>
          </a:xfrm>
        </p:spPr>
        <p:txBody>
          <a:bodyPr/>
          <a:lstStyle>
            <a:lvl1pPr marL="0" indent="0" algn="ctr">
              <a:buNone/>
              <a:defRPr sz="2400">
                <a:solidFill>
                  <a:srgbClr val="F5F6FA"/>
                </a:solidFill>
              </a:defRPr>
            </a:lvl1pPr>
            <a:lvl2pPr marL="457200" indent="0" algn="ctr">
              <a:buNone/>
              <a:defRPr sz="2000">
                <a:solidFill>
                  <a:srgbClr val="F5F6FA"/>
                </a:solidFill>
              </a:defRPr>
            </a:lvl2pPr>
            <a:lvl3pPr marL="914400" indent="0" algn="ctr">
              <a:buNone/>
              <a:defRPr sz="1800">
                <a:solidFill>
                  <a:srgbClr val="F5F6FA"/>
                </a:solidFill>
              </a:defRPr>
            </a:lvl3pPr>
            <a:lvl4pPr marL="1371600" indent="0" algn="ctr">
              <a:buNone/>
              <a:defRPr sz="1600">
                <a:solidFill>
                  <a:srgbClr val="F5F6FA"/>
                </a:solidFill>
              </a:defRPr>
            </a:lvl4pPr>
            <a:lvl5pPr marL="1828800" indent="0" algn="ctr">
              <a:buNone/>
              <a:defRPr sz="1600">
                <a:solidFill>
                  <a:srgbClr val="F5F6FA"/>
                </a:solidFill>
              </a:defRPr>
            </a:lvl5pPr>
            <a:lvl6pPr marL="2286000" indent="0" algn="ctr">
              <a:buNone/>
              <a:defRPr sz="1600">
                <a:solidFill>
                  <a:srgbClr val="F5F6FA"/>
                </a:solidFill>
              </a:defRPr>
            </a:lvl6pPr>
            <a:lvl7pPr marL="2743200" indent="0" algn="ctr">
              <a:buNone/>
              <a:defRPr sz="1600">
                <a:solidFill>
                  <a:srgbClr val="F5F6FA"/>
                </a:solidFill>
              </a:defRPr>
            </a:lvl7pPr>
            <a:lvl8pPr marL="3200400" indent="0" algn="ctr">
              <a:buNone/>
              <a:defRPr sz="1600">
                <a:solidFill>
                  <a:srgbClr val="F5F6FA"/>
                </a:solidFill>
              </a:defRPr>
            </a:lvl8pPr>
            <a:lvl9pPr marL="3657600" indent="0" algn="ctr">
              <a:buNone/>
              <a:defRPr sz="1600">
                <a:solidFill>
                  <a:srgbClr val="F5F6FA"/>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8EDD9559-6531-5FC6-74A1-D528DFB3CD57}"/>
              </a:ext>
            </a:extLst>
          </p:cNvPr>
          <p:cNvSpPr>
            <a:spLocks noGrp="1"/>
          </p:cNvSpPr>
          <p:nvPr>
            <p:ph type="dt" sz="half" idx="10"/>
          </p:nvPr>
        </p:nvSpPr>
        <p:spPr/>
        <p:txBody>
          <a:bodyPr/>
          <a:lstStyle>
            <a:lvl1pPr>
              <a:defRPr>
                <a:solidFill>
                  <a:srgbClr val="F5F6FA"/>
                </a:solidFill>
              </a:defRPr>
            </a:lvl1pPr>
          </a:lstStyle>
          <a:p>
            <a:fld id="{4E231027-12CF-584C-AF68-A67F34491130}" type="datetimeFigureOut">
              <a:rPr lang="en-US" smtClean="0"/>
              <a:t>9/1/26</a:t>
            </a:fld>
            <a:endParaRPr lang="en-US"/>
          </a:p>
        </p:txBody>
      </p:sp>
      <p:sp>
        <p:nvSpPr>
          <p:cNvPr id="5" name="Footer Placeholder 4">
            <a:extLst>
              <a:ext uri="{FF2B5EF4-FFF2-40B4-BE49-F238E27FC236}">
                <a16:creationId xmlns:a16="http://schemas.microsoft.com/office/drawing/2014/main" id="{F4C6EE17-9823-55AC-C69A-293351FCFD50}"/>
              </a:ext>
            </a:extLst>
          </p:cNvPr>
          <p:cNvSpPr>
            <a:spLocks noGrp="1"/>
          </p:cNvSpPr>
          <p:nvPr>
            <p:ph type="ftr" sz="quarter" idx="11"/>
          </p:nvPr>
        </p:nvSpPr>
        <p:spPr/>
        <p:txBody>
          <a:bodyPr/>
          <a:lstStyle>
            <a:lvl1pPr>
              <a:defRPr>
                <a:solidFill>
                  <a:srgbClr val="F5F6FA"/>
                </a:solidFill>
              </a:defRPr>
            </a:lvl1pPr>
          </a:lstStyle>
          <a:p>
            <a:endParaRPr lang="en-US"/>
          </a:p>
        </p:txBody>
      </p:sp>
      <p:sp>
        <p:nvSpPr>
          <p:cNvPr id="6" name="Slide Number Placeholder 5">
            <a:extLst>
              <a:ext uri="{FF2B5EF4-FFF2-40B4-BE49-F238E27FC236}">
                <a16:creationId xmlns:a16="http://schemas.microsoft.com/office/drawing/2014/main" id="{5E04019B-FB63-A7E7-C8DE-96EB7E14F941}"/>
              </a:ext>
            </a:extLst>
          </p:cNvPr>
          <p:cNvSpPr>
            <a:spLocks noGrp="1"/>
          </p:cNvSpPr>
          <p:nvPr>
            <p:ph type="sldNum" sz="quarter" idx="12"/>
          </p:nvPr>
        </p:nvSpPr>
        <p:spPr/>
        <p:txBody>
          <a:bodyPr/>
          <a:lstStyle>
            <a:lvl1pPr>
              <a:defRPr>
                <a:solidFill>
                  <a:srgbClr val="F5F6FA"/>
                </a:solidFill>
              </a:defRPr>
            </a:lvl1pPr>
          </a:lstStyle>
          <a:p>
            <a:fld id="{B33FD025-7F13-7547-89AF-6B9129FB7D4F}" type="slidenum">
              <a:rPr lang="en-US" smtClean="0"/>
              <a:t>‹#›</a:t>
            </a:fld>
            <a:endParaRPr lang="en-US"/>
          </a:p>
        </p:txBody>
      </p:sp>
    </p:spTree>
    <p:extLst>
      <p:ext uri="{BB962C8B-B14F-4D97-AF65-F5344CB8AC3E}">
        <p14:creationId xmlns:p14="http://schemas.microsoft.com/office/powerpoint/2010/main" val="149793033"/>
      </p:ext>
    </p:extLst>
  </p:cSld>
  <p:clrMapOvr>
    <a:masterClrMapping/>
  </p:clrMapOvr>
  <p:hf sldNum="0"/>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36B8B-3758-041C-4BF6-80B026254C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7CAB74-C371-8FB9-E714-80FC6AE5C6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3AF9AE-1F4A-C7E3-BEE2-FC4C80134046}"/>
              </a:ext>
            </a:extLst>
          </p:cNvPr>
          <p:cNvSpPr>
            <a:spLocks noGrp="1"/>
          </p:cNvSpPr>
          <p:nvPr>
            <p:ph type="dt" sz="half" idx="10"/>
          </p:nvPr>
        </p:nvSpPr>
        <p:spPr/>
        <p:txBody>
          <a:bodyPr/>
          <a:lstStyle/>
          <a:p>
            <a:fld id="{4E231027-12CF-584C-AF68-A67F34491130}" type="datetimeFigureOut">
              <a:rPr lang="en-US" smtClean="0"/>
              <a:t>9/1/26</a:t>
            </a:fld>
            <a:endParaRPr lang="en-US"/>
          </a:p>
        </p:txBody>
      </p:sp>
      <p:sp>
        <p:nvSpPr>
          <p:cNvPr id="5" name="Footer Placeholder 4">
            <a:extLst>
              <a:ext uri="{FF2B5EF4-FFF2-40B4-BE49-F238E27FC236}">
                <a16:creationId xmlns:a16="http://schemas.microsoft.com/office/drawing/2014/main" id="{CF490001-E2CA-153B-2C2A-6A6C792EEE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408CB-D206-2FE7-0BB2-E938DD0A52FE}"/>
              </a:ext>
            </a:extLst>
          </p:cNvPr>
          <p:cNvSpPr>
            <a:spLocks noGrp="1"/>
          </p:cNvSpPr>
          <p:nvPr>
            <p:ph type="sldNum" sz="quarter" idx="12"/>
          </p:nvPr>
        </p:nvSpPr>
        <p:spPr/>
        <p:txBody>
          <a:bodyPr/>
          <a:lstStyle/>
          <a:p>
            <a:fld id="{B33FD025-7F13-7547-89AF-6B9129FB7D4F}" type="slidenum">
              <a:rPr lang="en-US" smtClean="0"/>
              <a:t>‹#›</a:t>
            </a:fld>
            <a:endParaRPr lang="en-US"/>
          </a:p>
        </p:txBody>
      </p:sp>
    </p:spTree>
    <p:extLst>
      <p:ext uri="{BB962C8B-B14F-4D97-AF65-F5344CB8AC3E}">
        <p14:creationId xmlns:p14="http://schemas.microsoft.com/office/powerpoint/2010/main" val="2665996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bg>
      <p:bgPr>
        <a:gradFill rotWithShape="1">
          <a:gsLst>
            <a:gs pos="0">
              <a:srgbClr val="0B0E14"/>
            </a:gs>
            <a:gs pos="45000">
              <a:srgbClr val="121A3D"/>
            </a:gs>
            <a:gs pos="100000">
              <a:srgbClr val="1E1035"/>
            </a:gs>
          </a:gsLst>
          <a:lin ang="2700000" scaled="1"/>
        </a:gradFill>
        <a:effectLst/>
      </p:bgPr>
    </p:bg>
    <p:spTree>
      <p:nvGrpSpPr>
        <p:cNvPr id="1" name=""/>
        <p:cNvGrpSpPr/>
        <p:nvPr/>
      </p:nvGrpSpPr>
      <p:grpSpPr>
        <a:xfrm>
          <a:off x="0" y="0"/>
          <a:ext cx="0" cy="0"/>
          <a:chOff x="0" y="0"/>
          <a:chExt cx="0" cy="0"/>
        </a:xfrm>
      </p:grpSpPr>
      <p:sp>
        <p:nvSpPr>
          <p:cNvPr id="950" name="GlowAccentBlue"/>
          <p:cNvSpPr/>
          <p:nvPr/>
        </p:nvSpPr>
        <p:spPr>
          <a:xfrm>
            <a:off x="-2000000" y="-1800000"/>
            <a:ext cx="6800000" cy="6800000"/>
          </a:xfrm>
          <a:prstGeom prst="ellipse">
            <a:avLst/>
          </a:prstGeom>
          <a:solidFill>
            <a:srgbClr val="1863DC">
              <a:alpha val="14000"/>
            </a:srgbClr>
          </a:solidFill>
          <a:ln>
            <a:noFill/>
          </a:ln>
          <a:effectLst>
            <a:softEdge rad="1200000"/>
          </a:effectLst>
        </p:spPr>
        <p:txBody>
          <a:bodyPr/>
          <a:lstStyle/>
          <a:p>
            <a:endParaRPr/>
          </a:p>
        </p:txBody>
      </p:sp>
      <p:sp>
        <p:nvSpPr>
          <p:cNvPr id="951" name="GlowAccentPurple"/>
          <p:cNvSpPr/>
          <p:nvPr/>
        </p:nvSpPr>
        <p:spPr>
          <a:xfrm>
            <a:off x="6600000" y="2600000"/>
            <a:ext cx="5600000" cy="5600000"/>
          </a:xfrm>
          <a:prstGeom prst="ellipse">
            <a:avLst/>
          </a:prstGeom>
          <a:solidFill>
            <a:srgbClr val="891BC7">
              <a:alpha val="12000"/>
            </a:srgbClr>
          </a:solidFill>
          <a:ln>
            <a:noFill/>
          </a:ln>
          <a:effectLst>
            <a:softEdge rad="1200000"/>
          </a:effectLst>
        </p:spPr>
        <p:txBody>
          <a:bodyPr/>
          <a:lstStyle/>
          <a:p>
            <a:endParaRPr/>
          </a:p>
        </p:txBody>
      </p:sp>
      <p:sp>
        <p:nvSpPr>
          <p:cNvPr id="2" name="Title 1">
            <a:extLst>
              <a:ext uri="{FF2B5EF4-FFF2-40B4-BE49-F238E27FC236}">
                <a16:creationId xmlns:a16="http://schemas.microsoft.com/office/drawing/2014/main" id="{6B7C0342-A579-D7AD-413E-73EEFC54A277}"/>
              </a:ext>
            </a:extLst>
          </p:cNvPr>
          <p:cNvSpPr>
            <a:spLocks noGrp="1"/>
          </p:cNvSpPr>
          <p:nvPr>
            <p:ph type="title"/>
          </p:nvPr>
        </p:nvSpPr>
        <p:spPr>
          <a:xfrm>
            <a:off x="831850" y="1709738"/>
            <a:ext cx="10515600" cy="2852737"/>
          </a:xfrm>
        </p:spPr>
        <p:txBody>
          <a:bodyPr anchor="b"/>
          <a:lstStyle>
            <a:lvl1pPr>
              <a:defRPr sz="6000">
                <a:solidFill>
                  <a:srgbClr val="F5F6FA"/>
                </a:solidFill>
              </a:defRPr>
            </a:lvl1pPr>
          </a:lstStyle>
          <a:p>
            <a:r>
              <a:rPr lang="en-US"/>
              <a:t>Click to edit Master title style</a:t>
            </a:r>
          </a:p>
        </p:txBody>
      </p:sp>
      <p:sp>
        <p:nvSpPr>
          <p:cNvPr id="3" name="Text Placeholder 2">
            <a:extLst>
              <a:ext uri="{FF2B5EF4-FFF2-40B4-BE49-F238E27FC236}">
                <a16:creationId xmlns:a16="http://schemas.microsoft.com/office/drawing/2014/main" id="{41E44FD8-8E91-C271-E6EE-2F896AF6B236}"/>
              </a:ext>
            </a:extLst>
          </p:cNvPr>
          <p:cNvSpPr>
            <a:spLocks noGrp="1"/>
          </p:cNvSpPr>
          <p:nvPr>
            <p:ph type="body" idx="1"/>
          </p:nvPr>
        </p:nvSpPr>
        <p:spPr>
          <a:xfrm>
            <a:off x="831850" y="4589463"/>
            <a:ext cx="10515600" cy="1500187"/>
          </a:xfrm>
        </p:spPr>
        <p:txBody>
          <a:bodyPr/>
          <a:lstStyle>
            <a:lvl1pPr marL="0" indent="0">
              <a:buNone/>
              <a:defRPr sz="2400">
                <a:solidFill>
                  <a:srgbClr val="F5F6FA"/>
                </a:solidFill>
              </a:defRPr>
            </a:lvl1pPr>
            <a:lvl2pPr marL="457200" indent="0">
              <a:buNone/>
              <a:defRPr sz="2000">
                <a:solidFill>
                  <a:srgbClr val="F5F6FA"/>
                </a:solidFill>
              </a:defRPr>
            </a:lvl2pPr>
            <a:lvl3pPr marL="914400" indent="0">
              <a:buNone/>
              <a:defRPr sz="1800">
                <a:solidFill>
                  <a:srgbClr val="F5F6FA"/>
                </a:solidFill>
              </a:defRPr>
            </a:lvl3pPr>
            <a:lvl4pPr marL="1371600" indent="0">
              <a:buNone/>
              <a:defRPr sz="1600">
                <a:solidFill>
                  <a:srgbClr val="F5F6FA"/>
                </a:solidFill>
              </a:defRPr>
            </a:lvl4pPr>
            <a:lvl5pPr marL="1828800" indent="0">
              <a:buNone/>
              <a:defRPr sz="1600">
                <a:solidFill>
                  <a:srgbClr val="F5F6FA"/>
                </a:solidFill>
              </a:defRPr>
            </a:lvl5pPr>
            <a:lvl6pPr marL="2286000" indent="0">
              <a:buNone/>
              <a:defRPr sz="1600">
                <a:solidFill>
                  <a:srgbClr val="F5F6FA"/>
                </a:solidFill>
              </a:defRPr>
            </a:lvl6pPr>
            <a:lvl7pPr marL="2743200" indent="0">
              <a:buNone/>
              <a:defRPr sz="1600">
                <a:solidFill>
                  <a:srgbClr val="F5F6FA"/>
                </a:solidFill>
              </a:defRPr>
            </a:lvl7pPr>
            <a:lvl8pPr marL="3200400" indent="0">
              <a:buNone/>
              <a:defRPr sz="1600">
                <a:solidFill>
                  <a:srgbClr val="F5F6FA"/>
                </a:solidFill>
              </a:defRPr>
            </a:lvl8pPr>
            <a:lvl9pPr marL="3657600" indent="0">
              <a:buNone/>
              <a:defRPr sz="1600">
                <a:solidFill>
                  <a:srgbClr val="F5F6FA"/>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CCE77E-565E-00FE-AC07-3A5CCE72B18B}"/>
              </a:ext>
            </a:extLst>
          </p:cNvPr>
          <p:cNvSpPr>
            <a:spLocks noGrp="1"/>
          </p:cNvSpPr>
          <p:nvPr>
            <p:ph type="dt" sz="half" idx="10"/>
          </p:nvPr>
        </p:nvSpPr>
        <p:spPr/>
        <p:txBody>
          <a:bodyPr/>
          <a:lstStyle>
            <a:lvl1pPr>
              <a:defRPr>
                <a:solidFill>
                  <a:srgbClr val="F5F6FA"/>
                </a:solidFill>
              </a:defRPr>
            </a:lvl1pPr>
          </a:lstStyle>
          <a:p>
            <a:fld id="{4E231027-12CF-584C-AF68-A67F34491130}" type="datetimeFigureOut">
              <a:rPr lang="en-US" smtClean="0"/>
              <a:t>9/1/26</a:t>
            </a:fld>
            <a:endParaRPr lang="en-US"/>
          </a:p>
        </p:txBody>
      </p:sp>
      <p:sp>
        <p:nvSpPr>
          <p:cNvPr id="5" name="Footer Placeholder 4">
            <a:extLst>
              <a:ext uri="{FF2B5EF4-FFF2-40B4-BE49-F238E27FC236}">
                <a16:creationId xmlns:a16="http://schemas.microsoft.com/office/drawing/2014/main" id="{3D94EADC-AA33-42B5-2C26-C9339963C847}"/>
              </a:ext>
            </a:extLst>
          </p:cNvPr>
          <p:cNvSpPr>
            <a:spLocks noGrp="1"/>
          </p:cNvSpPr>
          <p:nvPr>
            <p:ph type="ftr" sz="quarter" idx="11"/>
          </p:nvPr>
        </p:nvSpPr>
        <p:spPr/>
        <p:txBody>
          <a:bodyPr/>
          <a:lstStyle>
            <a:lvl1pPr>
              <a:defRPr>
                <a:solidFill>
                  <a:srgbClr val="F5F6FA"/>
                </a:solidFill>
              </a:defRPr>
            </a:lvl1pPr>
          </a:lstStyle>
          <a:p>
            <a:endParaRPr lang="en-US"/>
          </a:p>
        </p:txBody>
      </p:sp>
      <p:sp>
        <p:nvSpPr>
          <p:cNvPr id="6" name="Slide Number Placeholder 5">
            <a:extLst>
              <a:ext uri="{FF2B5EF4-FFF2-40B4-BE49-F238E27FC236}">
                <a16:creationId xmlns:a16="http://schemas.microsoft.com/office/drawing/2014/main" id="{2C9F51D6-E80F-3554-ED7F-E1DF8DF5434D}"/>
              </a:ext>
            </a:extLst>
          </p:cNvPr>
          <p:cNvSpPr>
            <a:spLocks noGrp="1"/>
          </p:cNvSpPr>
          <p:nvPr>
            <p:ph type="sldNum" sz="quarter" idx="12"/>
          </p:nvPr>
        </p:nvSpPr>
        <p:spPr/>
        <p:txBody>
          <a:bodyPr/>
          <a:lstStyle>
            <a:lvl1pPr>
              <a:defRPr>
                <a:solidFill>
                  <a:srgbClr val="F5F6FA"/>
                </a:solidFill>
              </a:defRPr>
            </a:lvl1pPr>
          </a:lstStyle>
          <a:p>
            <a:fld id="{B33FD025-7F13-7547-89AF-6B9129FB7D4F}" type="slidenum">
              <a:rPr lang="en-US" smtClean="0"/>
              <a:t>‹#›</a:t>
            </a:fld>
            <a:endParaRPr lang="en-US"/>
          </a:p>
        </p:txBody>
      </p:sp>
    </p:spTree>
    <p:extLst>
      <p:ext uri="{BB962C8B-B14F-4D97-AF65-F5344CB8AC3E}">
        <p14:creationId xmlns:p14="http://schemas.microsoft.com/office/powerpoint/2010/main" val="4216944962"/>
      </p:ext>
    </p:extLst>
  </p:cSld>
  <p:clrMapOvr>
    <a:masterClrMapping/>
  </p:clrMapOvr>
  <p:hf sldNum="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50ED-7458-ADF8-932E-E09A421019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573969-34B9-C8CB-AF03-5B147163E9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5E0A5A-DE72-4027-0B0F-ABB5DA9E3A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C296EE-95FF-C7DF-EB75-9D6EC72D8608}"/>
              </a:ext>
            </a:extLst>
          </p:cNvPr>
          <p:cNvSpPr>
            <a:spLocks noGrp="1"/>
          </p:cNvSpPr>
          <p:nvPr>
            <p:ph type="dt" sz="half" idx="10"/>
          </p:nvPr>
        </p:nvSpPr>
        <p:spPr/>
        <p:txBody>
          <a:bodyPr/>
          <a:lstStyle/>
          <a:p>
            <a:fld id="{4E231027-12CF-584C-AF68-A67F34491130}" type="datetimeFigureOut">
              <a:rPr lang="en-US" smtClean="0"/>
              <a:t>9/1/26</a:t>
            </a:fld>
            <a:endParaRPr lang="en-US"/>
          </a:p>
        </p:txBody>
      </p:sp>
      <p:sp>
        <p:nvSpPr>
          <p:cNvPr id="6" name="Footer Placeholder 5">
            <a:extLst>
              <a:ext uri="{FF2B5EF4-FFF2-40B4-BE49-F238E27FC236}">
                <a16:creationId xmlns:a16="http://schemas.microsoft.com/office/drawing/2014/main" id="{E03E6AA5-1012-DF74-079C-187EBD5A6D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E20CEE-139F-433E-4FCA-3A06703DFE28}"/>
              </a:ext>
            </a:extLst>
          </p:cNvPr>
          <p:cNvSpPr>
            <a:spLocks noGrp="1"/>
          </p:cNvSpPr>
          <p:nvPr>
            <p:ph type="sldNum" sz="quarter" idx="12"/>
          </p:nvPr>
        </p:nvSpPr>
        <p:spPr/>
        <p:txBody>
          <a:bodyPr/>
          <a:lstStyle/>
          <a:p>
            <a:fld id="{B33FD025-7F13-7547-89AF-6B9129FB7D4F}" type="slidenum">
              <a:rPr lang="en-US" smtClean="0"/>
              <a:t>‹#›</a:t>
            </a:fld>
            <a:endParaRPr lang="en-US"/>
          </a:p>
        </p:txBody>
      </p:sp>
    </p:spTree>
    <p:extLst>
      <p:ext uri="{BB962C8B-B14F-4D97-AF65-F5344CB8AC3E}">
        <p14:creationId xmlns:p14="http://schemas.microsoft.com/office/powerpoint/2010/main" val="3565937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444D-2CF4-536A-0BE2-0AD2AEB6FE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49CF84-948B-81C2-4F0D-AC27BE3DED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8CFC1A-8ED4-65B1-3447-BC59E96225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C1260A-775E-A5E1-95F2-625EC0DB58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DD0EA3-9941-1DAB-BA73-BA06B772AE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841336-CD7D-2636-4911-82FB7F224D8C}"/>
              </a:ext>
            </a:extLst>
          </p:cNvPr>
          <p:cNvSpPr>
            <a:spLocks noGrp="1"/>
          </p:cNvSpPr>
          <p:nvPr>
            <p:ph type="dt" sz="half" idx="10"/>
          </p:nvPr>
        </p:nvSpPr>
        <p:spPr/>
        <p:txBody>
          <a:bodyPr/>
          <a:lstStyle/>
          <a:p>
            <a:fld id="{4E231027-12CF-584C-AF68-A67F34491130}" type="datetimeFigureOut">
              <a:rPr lang="en-US" smtClean="0"/>
              <a:t>9/1/26</a:t>
            </a:fld>
            <a:endParaRPr lang="en-US"/>
          </a:p>
        </p:txBody>
      </p:sp>
      <p:sp>
        <p:nvSpPr>
          <p:cNvPr id="8" name="Footer Placeholder 7">
            <a:extLst>
              <a:ext uri="{FF2B5EF4-FFF2-40B4-BE49-F238E27FC236}">
                <a16:creationId xmlns:a16="http://schemas.microsoft.com/office/drawing/2014/main" id="{5ACF9C66-ADED-CEF3-0E2A-6D61ACE695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6BECE6-C760-5A79-7664-93E0909306F2}"/>
              </a:ext>
            </a:extLst>
          </p:cNvPr>
          <p:cNvSpPr>
            <a:spLocks noGrp="1"/>
          </p:cNvSpPr>
          <p:nvPr>
            <p:ph type="sldNum" sz="quarter" idx="12"/>
          </p:nvPr>
        </p:nvSpPr>
        <p:spPr/>
        <p:txBody>
          <a:bodyPr/>
          <a:lstStyle/>
          <a:p>
            <a:fld id="{B33FD025-7F13-7547-89AF-6B9129FB7D4F}" type="slidenum">
              <a:rPr lang="en-US" smtClean="0"/>
              <a:t>‹#›</a:t>
            </a:fld>
            <a:endParaRPr lang="en-US"/>
          </a:p>
        </p:txBody>
      </p:sp>
    </p:spTree>
    <p:extLst>
      <p:ext uri="{BB962C8B-B14F-4D97-AF65-F5344CB8AC3E}">
        <p14:creationId xmlns:p14="http://schemas.microsoft.com/office/powerpoint/2010/main" val="2862528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F3AB1-F7B0-A813-F32C-E5D3657EA9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70C852-9A1B-FD1D-DB79-F2BEF5C27A72}"/>
              </a:ext>
            </a:extLst>
          </p:cNvPr>
          <p:cNvSpPr>
            <a:spLocks noGrp="1"/>
          </p:cNvSpPr>
          <p:nvPr>
            <p:ph type="dt" sz="half" idx="10"/>
          </p:nvPr>
        </p:nvSpPr>
        <p:spPr/>
        <p:txBody>
          <a:bodyPr/>
          <a:lstStyle/>
          <a:p>
            <a:fld id="{4E231027-12CF-584C-AF68-A67F34491130}" type="datetimeFigureOut">
              <a:rPr lang="en-US" smtClean="0"/>
              <a:t>9/1/26</a:t>
            </a:fld>
            <a:endParaRPr lang="en-US"/>
          </a:p>
        </p:txBody>
      </p:sp>
      <p:sp>
        <p:nvSpPr>
          <p:cNvPr id="4" name="Footer Placeholder 3">
            <a:extLst>
              <a:ext uri="{FF2B5EF4-FFF2-40B4-BE49-F238E27FC236}">
                <a16:creationId xmlns:a16="http://schemas.microsoft.com/office/drawing/2014/main" id="{4D7D525B-156E-7365-D02E-A8767B62DE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624F50-55F0-1818-7136-6F345C1FE662}"/>
              </a:ext>
            </a:extLst>
          </p:cNvPr>
          <p:cNvSpPr>
            <a:spLocks noGrp="1"/>
          </p:cNvSpPr>
          <p:nvPr>
            <p:ph type="sldNum" sz="quarter" idx="12"/>
          </p:nvPr>
        </p:nvSpPr>
        <p:spPr/>
        <p:txBody>
          <a:bodyPr/>
          <a:lstStyle/>
          <a:p>
            <a:fld id="{B33FD025-7F13-7547-89AF-6B9129FB7D4F}" type="slidenum">
              <a:rPr lang="en-US" smtClean="0"/>
              <a:t>‹#›</a:t>
            </a:fld>
            <a:endParaRPr lang="en-US"/>
          </a:p>
        </p:txBody>
      </p:sp>
    </p:spTree>
    <p:extLst>
      <p:ext uri="{BB962C8B-B14F-4D97-AF65-F5344CB8AC3E}">
        <p14:creationId xmlns:p14="http://schemas.microsoft.com/office/powerpoint/2010/main" val="2265031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286421-9B4F-2010-EAAB-810C4BA9CD29}"/>
              </a:ext>
            </a:extLst>
          </p:cNvPr>
          <p:cNvSpPr>
            <a:spLocks noGrp="1"/>
          </p:cNvSpPr>
          <p:nvPr>
            <p:ph type="dt" sz="half" idx="10"/>
          </p:nvPr>
        </p:nvSpPr>
        <p:spPr/>
        <p:txBody>
          <a:bodyPr/>
          <a:lstStyle/>
          <a:p>
            <a:fld id="{4E231027-12CF-584C-AF68-A67F34491130}" type="datetimeFigureOut">
              <a:rPr lang="en-US" smtClean="0"/>
              <a:t>9/1/26</a:t>
            </a:fld>
            <a:endParaRPr lang="en-US"/>
          </a:p>
        </p:txBody>
      </p:sp>
      <p:sp>
        <p:nvSpPr>
          <p:cNvPr id="3" name="Footer Placeholder 2">
            <a:extLst>
              <a:ext uri="{FF2B5EF4-FFF2-40B4-BE49-F238E27FC236}">
                <a16:creationId xmlns:a16="http://schemas.microsoft.com/office/drawing/2014/main" id="{22573163-0487-56CA-0413-A00F49706C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F324F9-8A72-42C0-9E6E-8E4140F0063E}"/>
              </a:ext>
            </a:extLst>
          </p:cNvPr>
          <p:cNvSpPr>
            <a:spLocks noGrp="1"/>
          </p:cNvSpPr>
          <p:nvPr>
            <p:ph type="sldNum" sz="quarter" idx="12"/>
          </p:nvPr>
        </p:nvSpPr>
        <p:spPr/>
        <p:txBody>
          <a:bodyPr/>
          <a:lstStyle/>
          <a:p>
            <a:fld id="{B33FD025-7F13-7547-89AF-6B9129FB7D4F}" type="slidenum">
              <a:rPr lang="en-US" smtClean="0"/>
              <a:t>‹#›</a:t>
            </a:fld>
            <a:endParaRPr lang="en-US"/>
          </a:p>
        </p:txBody>
      </p:sp>
    </p:spTree>
    <p:extLst>
      <p:ext uri="{BB962C8B-B14F-4D97-AF65-F5344CB8AC3E}">
        <p14:creationId xmlns:p14="http://schemas.microsoft.com/office/powerpoint/2010/main" val="2045433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806F-0ACD-35A4-3D32-30C541D277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BD045F-D085-9099-1453-F628934983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D4EF16-6E28-CE6C-E7F0-1C5E8D3A56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CAB6F8-98D1-15FA-EEE5-9308C3A4003E}"/>
              </a:ext>
            </a:extLst>
          </p:cNvPr>
          <p:cNvSpPr>
            <a:spLocks noGrp="1"/>
          </p:cNvSpPr>
          <p:nvPr>
            <p:ph type="dt" sz="half" idx="10"/>
          </p:nvPr>
        </p:nvSpPr>
        <p:spPr/>
        <p:txBody>
          <a:bodyPr/>
          <a:lstStyle/>
          <a:p>
            <a:fld id="{4E231027-12CF-584C-AF68-A67F34491130}" type="datetimeFigureOut">
              <a:rPr lang="en-US" smtClean="0"/>
              <a:t>9/1/26</a:t>
            </a:fld>
            <a:endParaRPr lang="en-US"/>
          </a:p>
        </p:txBody>
      </p:sp>
      <p:sp>
        <p:nvSpPr>
          <p:cNvPr id="6" name="Footer Placeholder 5">
            <a:extLst>
              <a:ext uri="{FF2B5EF4-FFF2-40B4-BE49-F238E27FC236}">
                <a16:creationId xmlns:a16="http://schemas.microsoft.com/office/drawing/2014/main" id="{6AE6A4C0-169C-B9E7-572A-2F41AC2144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CFED1C-FA43-9E2C-5048-22AB04448574}"/>
              </a:ext>
            </a:extLst>
          </p:cNvPr>
          <p:cNvSpPr>
            <a:spLocks noGrp="1"/>
          </p:cNvSpPr>
          <p:nvPr>
            <p:ph type="sldNum" sz="quarter" idx="12"/>
          </p:nvPr>
        </p:nvSpPr>
        <p:spPr/>
        <p:txBody>
          <a:bodyPr/>
          <a:lstStyle/>
          <a:p>
            <a:fld id="{B33FD025-7F13-7547-89AF-6B9129FB7D4F}" type="slidenum">
              <a:rPr lang="en-US" smtClean="0"/>
              <a:t>‹#›</a:t>
            </a:fld>
            <a:endParaRPr lang="en-US"/>
          </a:p>
        </p:txBody>
      </p:sp>
    </p:spTree>
    <p:extLst>
      <p:ext uri="{BB962C8B-B14F-4D97-AF65-F5344CB8AC3E}">
        <p14:creationId xmlns:p14="http://schemas.microsoft.com/office/powerpoint/2010/main" val="4161360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62324-253D-8F90-FE13-0BF4926323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4ED382-3DCA-E710-1C2E-6B4AF62117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F256DD-8939-F119-FC90-0E596A16C6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CF04C7-D7BF-0AEB-E91F-2D39232AF054}"/>
              </a:ext>
            </a:extLst>
          </p:cNvPr>
          <p:cNvSpPr>
            <a:spLocks noGrp="1"/>
          </p:cNvSpPr>
          <p:nvPr>
            <p:ph type="dt" sz="half" idx="10"/>
          </p:nvPr>
        </p:nvSpPr>
        <p:spPr/>
        <p:txBody>
          <a:bodyPr/>
          <a:lstStyle/>
          <a:p>
            <a:fld id="{4E231027-12CF-584C-AF68-A67F34491130}" type="datetimeFigureOut">
              <a:rPr lang="en-US" smtClean="0"/>
              <a:t>9/1/26</a:t>
            </a:fld>
            <a:endParaRPr lang="en-US"/>
          </a:p>
        </p:txBody>
      </p:sp>
      <p:sp>
        <p:nvSpPr>
          <p:cNvPr id="6" name="Footer Placeholder 5">
            <a:extLst>
              <a:ext uri="{FF2B5EF4-FFF2-40B4-BE49-F238E27FC236}">
                <a16:creationId xmlns:a16="http://schemas.microsoft.com/office/drawing/2014/main" id="{587CDB8E-0B79-2CF3-C7B2-91A5D55756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CDF18A-F3B7-DB4B-10A9-E59333ACC08B}"/>
              </a:ext>
            </a:extLst>
          </p:cNvPr>
          <p:cNvSpPr>
            <a:spLocks noGrp="1"/>
          </p:cNvSpPr>
          <p:nvPr>
            <p:ph type="sldNum" sz="quarter" idx="12"/>
          </p:nvPr>
        </p:nvSpPr>
        <p:spPr/>
        <p:txBody>
          <a:bodyPr/>
          <a:lstStyle/>
          <a:p>
            <a:fld id="{B33FD025-7F13-7547-89AF-6B9129FB7D4F}" type="slidenum">
              <a:rPr lang="en-US" smtClean="0"/>
              <a:t>‹#›</a:t>
            </a:fld>
            <a:endParaRPr lang="en-US"/>
          </a:p>
        </p:txBody>
      </p:sp>
    </p:spTree>
    <p:extLst>
      <p:ext uri="{BB962C8B-B14F-4D97-AF65-F5344CB8AC3E}">
        <p14:creationId xmlns:p14="http://schemas.microsoft.com/office/powerpoint/2010/main" val="1180754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1E777-C567-B0B4-2526-BDD5A43F28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E0A6CA-091F-80F5-4378-078D184504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9BD6A-8016-A9E0-65C2-F3F38FECA00E}"/>
              </a:ext>
            </a:extLst>
          </p:cNvPr>
          <p:cNvSpPr>
            <a:spLocks noGrp="1"/>
          </p:cNvSpPr>
          <p:nvPr>
            <p:ph type="dt" sz="half" idx="10"/>
          </p:nvPr>
        </p:nvSpPr>
        <p:spPr/>
        <p:txBody>
          <a:bodyPr/>
          <a:lstStyle/>
          <a:p>
            <a:fld id="{4E231027-12CF-584C-AF68-A67F34491130}" type="datetimeFigureOut">
              <a:rPr lang="en-US" smtClean="0"/>
              <a:t>9/1/26</a:t>
            </a:fld>
            <a:endParaRPr lang="en-US"/>
          </a:p>
        </p:txBody>
      </p:sp>
      <p:sp>
        <p:nvSpPr>
          <p:cNvPr id="5" name="Footer Placeholder 4">
            <a:extLst>
              <a:ext uri="{FF2B5EF4-FFF2-40B4-BE49-F238E27FC236}">
                <a16:creationId xmlns:a16="http://schemas.microsoft.com/office/drawing/2014/main" id="{D20BA2C3-AECA-1A6A-D027-AD8BFA4337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7D2E4-694D-D337-6A0E-3E6FB1263B44}"/>
              </a:ext>
            </a:extLst>
          </p:cNvPr>
          <p:cNvSpPr>
            <a:spLocks noGrp="1"/>
          </p:cNvSpPr>
          <p:nvPr>
            <p:ph type="sldNum" sz="quarter" idx="12"/>
          </p:nvPr>
        </p:nvSpPr>
        <p:spPr/>
        <p:txBody>
          <a:bodyPr/>
          <a:lstStyle/>
          <a:p>
            <a:fld id="{B33FD025-7F13-7547-89AF-6B9129FB7D4F}" type="slidenum">
              <a:rPr lang="en-US" smtClean="0"/>
              <a:t>‹#›</a:t>
            </a:fld>
            <a:endParaRPr lang="en-US"/>
          </a:p>
        </p:txBody>
      </p:sp>
    </p:spTree>
    <p:extLst>
      <p:ext uri="{BB962C8B-B14F-4D97-AF65-F5344CB8AC3E}">
        <p14:creationId xmlns:p14="http://schemas.microsoft.com/office/powerpoint/2010/main" val="4280142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549A2F-D1D8-91E1-7862-5F5566B3CA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3B8965-78A2-04D9-2D5D-6E2EDCE9DE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469A3-F150-BC50-4AFD-EE6B6F9ABCA6}"/>
              </a:ext>
            </a:extLst>
          </p:cNvPr>
          <p:cNvSpPr>
            <a:spLocks noGrp="1"/>
          </p:cNvSpPr>
          <p:nvPr>
            <p:ph type="dt" sz="half" idx="10"/>
          </p:nvPr>
        </p:nvSpPr>
        <p:spPr/>
        <p:txBody>
          <a:bodyPr/>
          <a:lstStyle/>
          <a:p>
            <a:fld id="{4E231027-12CF-584C-AF68-A67F34491130}" type="datetimeFigureOut">
              <a:rPr lang="en-US" smtClean="0"/>
              <a:t>9/1/26</a:t>
            </a:fld>
            <a:endParaRPr lang="en-US"/>
          </a:p>
        </p:txBody>
      </p:sp>
      <p:sp>
        <p:nvSpPr>
          <p:cNvPr id="5" name="Footer Placeholder 4">
            <a:extLst>
              <a:ext uri="{FF2B5EF4-FFF2-40B4-BE49-F238E27FC236}">
                <a16:creationId xmlns:a16="http://schemas.microsoft.com/office/drawing/2014/main" id="{EB66DFFA-87D3-30DC-90D4-94FF2220D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92745E-FD65-5A3E-D530-E5FA23F1C85D}"/>
              </a:ext>
            </a:extLst>
          </p:cNvPr>
          <p:cNvSpPr>
            <a:spLocks noGrp="1"/>
          </p:cNvSpPr>
          <p:nvPr>
            <p:ph type="sldNum" sz="quarter" idx="12"/>
          </p:nvPr>
        </p:nvSpPr>
        <p:spPr/>
        <p:txBody>
          <a:bodyPr/>
          <a:lstStyle/>
          <a:p>
            <a:fld id="{B33FD025-7F13-7547-89AF-6B9129FB7D4F}" type="slidenum">
              <a:rPr lang="en-US" smtClean="0"/>
              <a:t>‹#›</a:t>
            </a:fld>
            <a:endParaRPr lang="en-US"/>
          </a:p>
        </p:txBody>
      </p:sp>
    </p:spTree>
    <p:extLst>
      <p:ext uri="{BB962C8B-B14F-4D97-AF65-F5344CB8AC3E}">
        <p14:creationId xmlns:p14="http://schemas.microsoft.com/office/powerpoint/2010/main" val="1516931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Custom Layout_drkBlue">
    <p:bg>
      <p:bgPr>
        <a:solidFill>
          <a:srgbClr val="00294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A3821-4BFA-74CC-B733-A590DF1428C5}"/>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1877572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7F8FC"/>
            </a:gs>
            <a:gs pos="55000">
              <a:srgbClr val="E6EBFA"/>
            </a:gs>
            <a:gs pos="100000">
              <a:srgbClr val="DAD9F7"/>
            </a:gs>
          </a:gsLst>
          <a:lin ang="27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E40844-F587-A476-6C94-DB1F48F529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75C133-8D54-0D74-B5E2-1966D22317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A4FD80-B52E-6D76-2B55-F0FC69759C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231027-12CF-584C-AF68-A67F34491130}" type="datetimeFigureOut">
              <a:rPr lang="en-US" smtClean="0"/>
              <a:t>9/1/26</a:t>
            </a:fld>
            <a:endParaRPr lang="en-US"/>
          </a:p>
        </p:txBody>
      </p:sp>
      <p:sp>
        <p:nvSpPr>
          <p:cNvPr id="5" name="Footer Placeholder 4">
            <a:extLst>
              <a:ext uri="{FF2B5EF4-FFF2-40B4-BE49-F238E27FC236}">
                <a16:creationId xmlns:a16="http://schemas.microsoft.com/office/drawing/2014/main" id="{03402438-C9D4-9C95-4919-58D2E17893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4B2154-B8DD-0745-C7F9-0ECA329562B6}"/>
              </a:ext>
            </a:extLst>
          </p:cNvPr>
          <p:cNvSpPr>
            <a:spLocks noGrp="1"/>
          </p:cNvSpPr>
          <p:nvPr>
            <p:ph type="sldNum" sz="quarter" idx="4"/>
          </p:nvPr>
        </p:nvSpPr>
        <p:spPr>
          <a:xfrm>
            <a:off x="11620500" y="6489700"/>
            <a:ext cx="533400" cy="254000"/>
          </a:xfrm>
          <a:prstGeom prst="rect">
            <a:avLst/>
          </a:prstGeom>
        </p:spPr>
        <p:txBody>
          <a:bodyPr vert="horz" lIns="91440" tIns="45720" rIns="91440" bIns="45720" rtlCol="0" anchor="ctr"/>
          <a:lstStyle>
            <a:lvl1pPr algn="ctr">
              <a:defRPr sz="1400" b="1">
                <a:solidFill>
                  <a:srgbClr val="1863DC"/>
                </a:solidFill>
              </a:defRPr>
            </a:lvl1pPr>
          </a:lstStyle>
          <a:p>
            <a:fld id="{B33FD025-7F13-7547-89AF-6B9129FB7D4F}" type="slidenum">
              <a:rPr lang="en-US" smtClean="0"/>
              <a:t>‹#›</a:t>
            </a:fld>
            <a:endParaRPr lang="en-US"/>
          </a:p>
        </p:txBody>
      </p:sp>
      <p:sp>
        <p:nvSpPr>
          <p:cNvPr id="901" name="AccentBar"/>
          <p:cNvSpPr/>
          <p:nvPr/>
        </p:nvSpPr>
        <p:spPr>
          <a:xfrm>
            <a:off x="0" y="0"/>
            <a:ext cx="12192000" cy="45720"/>
          </a:xfrm>
          <a:prstGeom prst="rect">
            <a:avLst/>
          </a:prstGeom>
          <a:gradFill>
            <a:gsLst>
              <a:gs pos="0">
                <a:srgbClr val="1863DC"/>
              </a:gs>
              <a:gs pos="60000">
                <a:srgbClr val="891BC7"/>
              </a:gs>
              <a:gs pos="100000">
                <a:srgbClr val="FE977D"/>
              </a:gs>
            </a:gsLst>
            <a:lin ang="0" scaled="1"/>
          </a:gradFill>
          <a:ln>
            <a:noFill/>
          </a:ln>
        </p:spPr>
        <p:txBody>
          <a:bodyPr/>
          <a:lstStyle/>
          <a:p>
            <a:endParaRPr/>
          </a:p>
        </p:txBody>
      </p:sp>
      <p:sp>
        <p:nvSpPr>
          <p:cNvPr id="910" name="SignalRing910"/>
          <p:cNvSpPr/>
          <p:nvPr/>
        </p:nvSpPr>
        <p:spPr>
          <a:xfrm>
            <a:off x="10541000" y="5207000"/>
            <a:ext cx="3302000" cy="3302000"/>
          </a:xfrm>
          <a:prstGeom prst="ellipse">
            <a:avLst/>
          </a:prstGeom>
          <a:noFill/>
          <a:ln w="25400">
            <a:solidFill>
              <a:srgbClr val="1863DC">
                <a:alpha val="65000"/>
              </a:srgbClr>
            </a:solidFill>
          </a:ln>
        </p:spPr>
        <p:txBody>
          <a:bodyPr/>
          <a:lstStyle/>
          <a:p>
            <a:endParaRPr/>
          </a:p>
        </p:txBody>
      </p:sp>
      <p:sp>
        <p:nvSpPr>
          <p:cNvPr id="911" name="SignalRing911"/>
          <p:cNvSpPr/>
          <p:nvPr/>
        </p:nvSpPr>
        <p:spPr>
          <a:xfrm>
            <a:off x="11049000" y="5715000"/>
            <a:ext cx="2286000" cy="2286000"/>
          </a:xfrm>
          <a:prstGeom prst="ellipse">
            <a:avLst/>
          </a:prstGeom>
          <a:noFill/>
          <a:ln w="28575">
            <a:solidFill>
              <a:srgbClr val="891BC7">
                <a:alpha val="80000"/>
              </a:srgbClr>
            </a:solidFill>
          </a:ln>
        </p:spPr>
        <p:txBody>
          <a:bodyPr/>
          <a:lstStyle/>
          <a:p>
            <a:endParaRPr/>
          </a:p>
        </p:txBody>
      </p:sp>
      <p:sp>
        <p:nvSpPr>
          <p:cNvPr id="912" name="SignalRing912"/>
          <p:cNvSpPr/>
          <p:nvPr/>
        </p:nvSpPr>
        <p:spPr>
          <a:xfrm>
            <a:off x="11430000" y="6096000"/>
            <a:ext cx="1524000" cy="1524000"/>
          </a:xfrm>
          <a:prstGeom prst="ellipse">
            <a:avLst/>
          </a:prstGeom>
          <a:noFill/>
          <a:ln w="38100">
            <a:solidFill>
              <a:srgbClr val="FE977D">
                <a:alpha val="100000"/>
              </a:srgbClr>
            </a:solidFill>
          </a:ln>
        </p:spPr>
        <p:txBody>
          <a:bodyPr/>
          <a:lstStyle/>
          <a:p>
            <a:endParaRPr/>
          </a:p>
        </p:txBody>
      </p:sp>
      <p:sp>
        <p:nvSpPr>
          <p:cNvPr id="913" name="SignalDot"/>
          <p:cNvSpPr/>
          <p:nvPr/>
        </p:nvSpPr>
        <p:spPr>
          <a:xfrm>
            <a:off x="12109450" y="6775450"/>
            <a:ext cx="165100" cy="165100"/>
          </a:xfrm>
          <a:prstGeom prst="ellipse">
            <a:avLst/>
          </a:prstGeom>
          <a:solidFill>
            <a:srgbClr val="FE977D"/>
          </a:solidFill>
          <a:ln>
            <a:noFill/>
          </a:ln>
        </p:spPr>
        <p:txBody>
          <a:bodyPr/>
          <a:lstStyle/>
          <a:p>
            <a:endParaRPr/>
          </a:p>
        </p:txBody>
      </p:sp>
    </p:spTree>
    <p:extLst>
      <p:ext uri="{BB962C8B-B14F-4D97-AF65-F5344CB8AC3E}">
        <p14:creationId xmlns:p14="http://schemas.microsoft.com/office/powerpoint/2010/main" val="3021618438"/>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Lst>
  <p:txStyles>
    <p:titleStyle>
      <a:lvl1pPr algn="l" defTabSz="914400" rtl="0" eaLnBrk="1" latinLnBrk="0" hangingPunct="1">
        <a:lnSpc>
          <a:spcPct val="90000"/>
        </a:lnSpc>
        <a:spcBef>
          <a:spcPct val="0"/>
        </a:spcBef>
        <a:buNone/>
        <a:defRPr sz="4400" kern="1200">
          <a:solidFill>
            <a:srgbClr val="12141C"/>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1863DC"/>
        </a:buClr>
        <a:buFont typeface="Arial" panose="020B0604020202020204" pitchFamily="34" charset="0"/>
        <a:buChar char="•"/>
        <a:defRPr sz="2800" kern="1200">
          <a:solidFill>
            <a:srgbClr val="12141C"/>
          </a:solidFill>
          <a:latin typeface="+mn-lt"/>
          <a:ea typeface="+mn-ea"/>
          <a:cs typeface="+mn-cs"/>
        </a:defRPr>
      </a:lvl1pPr>
      <a:lvl2pPr marL="685800" indent="-228600" algn="l" defTabSz="914400" rtl="0" eaLnBrk="1" latinLnBrk="0" hangingPunct="1">
        <a:lnSpc>
          <a:spcPct val="90000"/>
        </a:lnSpc>
        <a:spcBef>
          <a:spcPts val="500"/>
        </a:spcBef>
        <a:buClr>
          <a:srgbClr val="891BC7"/>
        </a:buClr>
        <a:buFont typeface="Arial" panose="020B0604020202020204" pitchFamily="34" charset="0"/>
        <a:buChar char="•"/>
        <a:defRPr sz="2400" kern="1200">
          <a:solidFill>
            <a:srgbClr val="1214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214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214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214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2141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2141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2141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2141C"/>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jpeg"/><Relationship Id="rId3" Type="http://schemas.openxmlformats.org/officeDocument/2006/relationships/image" Target="../media/image1.svg"/><Relationship Id="rId7" Type="http://schemas.openxmlformats.org/officeDocument/2006/relationships/image" Target="../media/image5.jpe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11" Type="http://schemas.openxmlformats.org/officeDocument/2006/relationships/image" Target="../media/image9.jpeg"/><Relationship Id="rId5" Type="http://schemas.openxmlformats.org/officeDocument/2006/relationships/image" Target="../media/image3.svg"/><Relationship Id="rId10" Type="http://schemas.openxmlformats.org/officeDocument/2006/relationships/image" Target="../media/image8.jpeg"/><Relationship Id="rId4" Type="http://schemas.openxmlformats.org/officeDocument/2006/relationships/image" Target="../media/image2.svg"/><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slideLayout" Target="../slideLayouts/slideLayout6.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sv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www.sans.org/security-resources/glossary-of-terms/incident-response" TargetMode="External"/><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economycomfort/upwind-sa-lab"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drive.google.com/drive/folders/1dxv0Gircm8qBIaSG3OWoAefVsSxF1Y1N?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7F56A-CE8C-4686-F884-28110258180F}"/>
              </a:ext>
            </a:extLst>
          </p:cNvPr>
          <p:cNvSpPr>
            <a:spLocks noGrp="1"/>
          </p:cNvSpPr>
          <p:nvPr>
            <p:ph type="ctrTitle"/>
          </p:nvPr>
        </p:nvSpPr>
        <p:spPr/>
        <p:txBody>
          <a:bodyPr/>
          <a:lstStyle/>
          <a:p>
            <a:r>
              <a:rPr lang="en-US" dirty="0"/>
              <a:t>Upwind SA Lab</a:t>
            </a:r>
          </a:p>
        </p:txBody>
      </p:sp>
      <p:sp>
        <p:nvSpPr>
          <p:cNvPr id="3" name="Subtitle 2">
            <a:extLst>
              <a:ext uri="{FF2B5EF4-FFF2-40B4-BE49-F238E27FC236}">
                <a16:creationId xmlns:a16="http://schemas.microsoft.com/office/drawing/2014/main" id="{9261559D-DE23-587D-53D8-F7FA7BA0EB4F}"/>
              </a:ext>
            </a:extLst>
          </p:cNvPr>
          <p:cNvSpPr>
            <a:spLocks noGrp="1"/>
          </p:cNvSpPr>
          <p:nvPr>
            <p:ph type="subTitle" idx="1"/>
          </p:nvPr>
        </p:nvSpPr>
        <p:spPr/>
        <p:txBody>
          <a:bodyPr>
            <a:normAutofit/>
          </a:bodyPr>
          <a:lstStyle/>
          <a:p>
            <a:r>
              <a:rPr lang="en-US" sz="2000" dirty="0"/>
              <a:t>Building, breaking, and defending OWASP Juice Shop on AWS EKS</a:t>
            </a:r>
          </a:p>
        </p:txBody>
      </p:sp>
    </p:spTree>
    <p:extLst>
      <p:ext uri="{BB962C8B-B14F-4D97-AF65-F5344CB8AC3E}">
        <p14:creationId xmlns:p14="http://schemas.microsoft.com/office/powerpoint/2010/main" val="544658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577FC-6D6E-21ED-E369-318DF87B6B4F}"/>
              </a:ext>
            </a:extLst>
          </p:cNvPr>
          <p:cNvSpPr>
            <a:spLocks noGrp="1"/>
          </p:cNvSpPr>
          <p:nvPr>
            <p:ph type="title"/>
          </p:nvPr>
        </p:nvSpPr>
        <p:spPr/>
        <p:txBody>
          <a:bodyPr/>
          <a:lstStyle/>
          <a:p>
            <a:r>
              <a:rPr lang="en-US" dirty="0">
                <a:latin typeface="Menlo" panose="020B0609030804020204" pitchFamily="49" charset="0"/>
                <a:ea typeface="Menlo" panose="020B0609030804020204" pitchFamily="49" charset="0"/>
                <a:cs typeface="Menlo" panose="020B0609030804020204" pitchFamily="49" charset="0"/>
              </a:rPr>
              <a:t>$</a:t>
            </a:r>
            <a:r>
              <a:rPr lang="en-US" cap="none" dirty="0">
                <a:latin typeface="Menlo" panose="020B0609030804020204" pitchFamily="49" charset="0"/>
                <a:ea typeface="Menlo" panose="020B0609030804020204" pitchFamily="49" charset="0"/>
                <a:cs typeface="Menlo" panose="020B0609030804020204" pitchFamily="49" charset="0"/>
              </a:rPr>
              <a:t> </a:t>
            </a:r>
            <a:r>
              <a:rPr lang="en-US" cap="none" dirty="0" err="1">
                <a:latin typeface="Menlo" panose="020B0609030804020204" pitchFamily="49" charset="0"/>
                <a:ea typeface="Menlo" panose="020B0609030804020204" pitchFamily="49" charset="0"/>
                <a:cs typeface="Menlo" panose="020B0609030804020204" pitchFamily="49" charset="0"/>
              </a:rPr>
              <a:t>whoami</a:t>
            </a:r>
            <a:endParaRPr lang="en-US" cap="none" dirty="0">
              <a:latin typeface="Menlo" panose="020B0609030804020204" pitchFamily="49" charset="0"/>
              <a:ea typeface="Menlo" panose="020B0609030804020204" pitchFamily="49" charset="0"/>
              <a:cs typeface="Menlo" panose="020B0609030804020204" pitchFamily="49" charset="0"/>
            </a:endParaRPr>
          </a:p>
        </p:txBody>
      </p:sp>
      <p:sp>
        <p:nvSpPr>
          <p:cNvPr id="3" name="Content Placeholder 3">
            <a:extLst>
              <a:ext uri="{FF2B5EF4-FFF2-40B4-BE49-F238E27FC236}">
                <a16:creationId xmlns:a16="http://schemas.microsoft.com/office/drawing/2014/main" id="{CAB6F36D-FE26-200B-FF41-EE09D1001F67}"/>
              </a:ext>
            </a:extLst>
          </p:cNvPr>
          <p:cNvSpPr txBox="1">
            <a:spLocks/>
          </p:cNvSpPr>
          <p:nvPr/>
        </p:nvSpPr>
        <p:spPr>
          <a:xfrm>
            <a:off x="497284" y="1524268"/>
            <a:ext cx="5604078" cy="5060620"/>
          </a:xfrm>
          <a:prstGeom prst="rect">
            <a:avLst/>
          </a:prstGeom>
        </p:spPr>
        <p:txBody>
          <a:bodyPr/>
          <a:lstStyle>
            <a:lvl1pPr marL="233363" indent="-233363" algn="l" defTabSz="914400" rtl="0" eaLnBrk="1" latinLnBrk="0" hangingPunct="1">
              <a:lnSpc>
                <a:spcPct val="90000"/>
              </a:lnSpc>
              <a:spcBef>
                <a:spcPts val="1200"/>
              </a:spcBef>
              <a:spcAft>
                <a:spcPts val="600"/>
              </a:spcAft>
              <a:buClr>
                <a:schemeClr val="accent1"/>
              </a:buClr>
              <a:buSzPct val="90000"/>
              <a:buFontTx/>
              <a:buBlip>
                <a:blip>
                  <a:extLst>
                    <a:ext uri="{96DAC541-7B7A-43D3-8B79-37D633B846F1}">
                      <asvg:svgBlip xmlns:asvg="http://schemas.microsoft.com/office/drawing/2016/SVG/main" r:embed="rId3"/>
                    </a:ext>
                  </a:extLst>
                </a:blip>
              </a:buBlip>
              <a:defRPr sz="20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800"/>
              </a:spcBef>
              <a:spcAft>
                <a:spcPts val="400"/>
              </a:spcAft>
              <a:buClr>
                <a:schemeClr val="accent3"/>
              </a:buClr>
              <a:buFontTx/>
              <a:buBlip>
                <a:blip>
                  <a:extLst>
                    <a:ext uri="{96DAC541-7B7A-43D3-8B79-37D633B846F1}">
                      <asvg:svgBlip xmlns:asvg="http://schemas.microsoft.com/office/drawing/2016/SVG/main" r:embed="rId4"/>
                    </a:ext>
                  </a:extLst>
                </a:blip>
              </a:buBlip>
              <a:defRPr sz="1800" kern="1200">
                <a:solidFill>
                  <a:schemeClr val="tx1"/>
                </a:solidFill>
                <a:latin typeface="+mn-lt"/>
                <a:ea typeface="+mn-ea"/>
                <a:cs typeface="Arial" panose="020B0604020202020204" pitchFamily="34" charset="0"/>
              </a:defRPr>
            </a:lvl2pPr>
            <a:lvl3pPr marL="1084263" indent="-169863" algn="l" defTabSz="914400" rtl="0" eaLnBrk="1" latinLnBrk="0" hangingPunct="1">
              <a:lnSpc>
                <a:spcPct val="90000"/>
              </a:lnSpc>
              <a:spcBef>
                <a:spcPts val="400"/>
              </a:spcBef>
              <a:spcAft>
                <a:spcPts val="200"/>
              </a:spcAft>
              <a:buClr>
                <a:schemeClr val="accent4"/>
              </a:buClr>
              <a:buSzPct val="90000"/>
              <a:buFontTx/>
              <a:buBlip>
                <a:blip>
                  <a:extLst>
                    <a:ext uri="{96DAC541-7B7A-43D3-8B79-37D633B846F1}">
                      <asvg:svgBlip xmlns:asvg="http://schemas.microsoft.com/office/drawing/2016/SVG/main" r:embed="rId5"/>
                    </a:ext>
                  </a:extLst>
                </a:blip>
              </a:buBlip>
              <a:defRPr sz="1600" kern="1200">
                <a:solidFill>
                  <a:schemeClr val="tx1"/>
                </a:solidFill>
                <a:latin typeface="+mn-lt"/>
                <a:ea typeface="+mn-ea"/>
                <a:cs typeface="Arial" panose="020B0604020202020204" pitchFamily="34" charset="0"/>
              </a:defRPr>
            </a:lvl3pPr>
            <a:lvl4pPr marL="1541463" indent="-231775" algn="l" defTabSz="914400" rtl="0" eaLnBrk="1" latinLnBrk="0" hangingPunct="1">
              <a:lnSpc>
                <a:spcPct val="90000"/>
              </a:lnSpc>
              <a:spcBef>
                <a:spcPts val="400"/>
              </a:spcBef>
              <a:spcAft>
                <a:spcPts val="200"/>
              </a:spcAft>
              <a:buClr>
                <a:schemeClr val="accent1"/>
              </a:buClr>
              <a:buFontTx/>
              <a:buBlip>
                <a:blip>
                  <a:extLst>
                    <a:ext uri="{96DAC541-7B7A-43D3-8B79-37D633B846F1}">
                      <asvg:svgBlip xmlns:asvg="http://schemas.microsoft.com/office/drawing/2016/SVG/main" r:embed="rId4"/>
                    </a:ext>
                  </a:extLst>
                </a:blip>
              </a:buBlip>
              <a:defRPr sz="1600" kern="1200">
                <a:solidFill>
                  <a:schemeClr val="tx1"/>
                </a:solidFill>
                <a:latin typeface="+mn-lt"/>
                <a:ea typeface="+mn-ea"/>
                <a:cs typeface="Arial" panose="020B0604020202020204" pitchFamily="34" charset="0"/>
              </a:defRPr>
            </a:lvl4pPr>
            <a:lvl5pPr marL="1881188" indent="-169863" algn="l" defTabSz="914400" rtl="0" eaLnBrk="1" latinLnBrk="0" hangingPunct="1">
              <a:lnSpc>
                <a:spcPct val="90000"/>
              </a:lnSpc>
              <a:spcBef>
                <a:spcPts val="400"/>
              </a:spcBef>
              <a:spcAft>
                <a:spcPts val="200"/>
              </a:spcAft>
              <a:buClr>
                <a:schemeClr val="accent1"/>
              </a:buClr>
              <a:buSzPct val="90000"/>
              <a:buFontTx/>
              <a:buBlip>
                <a:blip>
                  <a:extLst>
                    <a:ext uri="{96DAC541-7B7A-43D3-8B79-37D633B846F1}">
                      <asvg:svgBlip xmlns:asvg="http://schemas.microsoft.com/office/drawing/2016/SVG/main" r:embed="rId5"/>
                    </a:ext>
                  </a:extLst>
                </a:blip>
              </a:buBlip>
              <a:defRPr sz="16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David A. Brooks, </a:t>
            </a:r>
            <a:r>
              <a:rPr lang="en-US" sz="1400" dirty="0">
                <a:solidFill>
                  <a:schemeClr val="tx1"/>
                </a:solidFill>
              </a:rPr>
              <a:t>CISSP,</a:t>
            </a:r>
            <a:r>
              <a:rPr lang="en-US" dirty="0">
                <a:solidFill>
                  <a:schemeClr val="tx1"/>
                </a:solidFill>
              </a:rPr>
              <a:t> </a:t>
            </a:r>
            <a:r>
              <a:rPr lang="en-US" sz="1200" dirty="0">
                <a:solidFill>
                  <a:schemeClr val="tx1"/>
                </a:solidFill>
              </a:rPr>
              <a:t>CCSP, </a:t>
            </a:r>
            <a:r>
              <a:rPr lang="en-US" sz="1000" dirty="0">
                <a:solidFill>
                  <a:schemeClr val="tx1"/>
                </a:solidFill>
              </a:rPr>
              <a:t>AZ104,</a:t>
            </a:r>
            <a:r>
              <a:rPr lang="en-US" sz="1200" dirty="0">
                <a:solidFill>
                  <a:schemeClr val="tx1"/>
                </a:solidFill>
              </a:rPr>
              <a:t> </a:t>
            </a:r>
            <a:r>
              <a:rPr lang="en-US" sz="800" dirty="0">
                <a:solidFill>
                  <a:schemeClr val="tx1"/>
                </a:solidFill>
              </a:rPr>
              <a:t>SCSA,</a:t>
            </a:r>
            <a:r>
              <a:rPr lang="en-US" sz="1200" dirty="0">
                <a:solidFill>
                  <a:schemeClr val="tx1"/>
                </a:solidFill>
              </a:rPr>
              <a:t> </a:t>
            </a:r>
            <a:r>
              <a:rPr lang="en-US" sz="600" dirty="0">
                <a:solidFill>
                  <a:schemeClr val="tx1"/>
                </a:solidFill>
              </a:rPr>
              <a:t>LOREM,</a:t>
            </a:r>
            <a:r>
              <a:rPr lang="en-US" sz="800" dirty="0">
                <a:solidFill>
                  <a:schemeClr val="tx1"/>
                </a:solidFill>
              </a:rPr>
              <a:t> </a:t>
            </a:r>
            <a:r>
              <a:rPr lang="en-US" sz="400" dirty="0">
                <a:solidFill>
                  <a:schemeClr val="tx1"/>
                </a:solidFill>
              </a:rPr>
              <a:t>IPSUM,</a:t>
            </a:r>
            <a:r>
              <a:rPr lang="en-US" sz="600" dirty="0">
                <a:solidFill>
                  <a:schemeClr val="tx1"/>
                </a:solidFill>
              </a:rPr>
              <a:t> </a:t>
            </a:r>
            <a:r>
              <a:rPr lang="en-US" sz="200" dirty="0">
                <a:solidFill>
                  <a:schemeClr val="tx1"/>
                </a:solidFill>
              </a:rPr>
              <a:t>OMGWTFBBQ</a:t>
            </a:r>
          </a:p>
          <a:p>
            <a:r>
              <a:rPr lang="en-US" dirty="0">
                <a:solidFill>
                  <a:schemeClr val="tx1"/>
                </a:solidFill>
              </a:rPr>
              <a:t>Pre-sales Security Architect at </a:t>
            </a:r>
            <a:r>
              <a:rPr lang="en-US" b="1" dirty="0">
                <a:solidFill>
                  <a:schemeClr val="tx1"/>
                </a:solidFill>
              </a:rPr>
              <a:t>Vectra AI</a:t>
            </a:r>
          </a:p>
          <a:p>
            <a:pPr lvl="1"/>
            <a:r>
              <a:rPr lang="en-US" dirty="0">
                <a:solidFill>
                  <a:schemeClr val="tx1"/>
                </a:solidFill>
              </a:rPr>
              <a:t>Previously Cisco, </a:t>
            </a:r>
            <a:r>
              <a:rPr lang="en-US" dirty="0" err="1">
                <a:solidFill>
                  <a:schemeClr val="tx1"/>
                </a:solidFill>
              </a:rPr>
              <a:t>Lancope</a:t>
            </a:r>
            <a:r>
              <a:rPr lang="en-US" dirty="0">
                <a:solidFill>
                  <a:schemeClr val="tx1"/>
                </a:solidFill>
              </a:rPr>
              <a:t>, </a:t>
            </a:r>
            <a:r>
              <a:rPr lang="en-US" dirty="0" err="1">
                <a:solidFill>
                  <a:schemeClr val="tx1"/>
                </a:solidFill>
              </a:rPr>
              <a:t>Secureworks</a:t>
            </a:r>
            <a:endParaRPr lang="en-US" dirty="0">
              <a:solidFill>
                <a:schemeClr val="tx1"/>
              </a:solidFill>
            </a:endParaRPr>
          </a:p>
          <a:p>
            <a:pPr lvl="1"/>
            <a:r>
              <a:rPr lang="en-US" dirty="0"/>
              <a:t>Developed respect for the bad guys</a:t>
            </a:r>
            <a:endParaRPr lang="en-US" dirty="0">
              <a:solidFill>
                <a:schemeClr val="tx1"/>
              </a:solidFill>
            </a:endParaRPr>
          </a:p>
          <a:p>
            <a:pPr lvl="1"/>
            <a:r>
              <a:rPr lang="en-US" dirty="0">
                <a:solidFill>
                  <a:schemeClr val="tx1"/>
                </a:solidFill>
              </a:rPr>
              <a:t>Recovering UNIX admin </a:t>
            </a:r>
            <a:r>
              <a:rPr lang="en-US" sz="900" dirty="0">
                <a:solidFill>
                  <a:schemeClr val="bg2">
                    <a:lumMod val="60000"/>
                    <a:lumOff val="40000"/>
                  </a:schemeClr>
                </a:solidFill>
              </a:rPr>
              <a:t>(dm me your .dotfiles)</a:t>
            </a:r>
          </a:p>
          <a:p>
            <a:r>
              <a:rPr lang="en-US" dirty="0">
                <a:solidFill>
                  <a:schemeClr val="tx1"/>
                </a:solidFill>
              </a:rPr>
              <a:t>Most of career spent in a consultative capacity with enterprise security teams</a:t>
            </a:r>
          </a:p>
          <a:p>
            <a:r>
              <a:rPr lang="en-US" dirty="0">
                <a:solidFill>
                  <a:schemeClr val="tx1"/>
                </a:solidFill>
              </a:rPr>
              <a:t>Atlanta native 👽</a:t>
            </a:r>
          </a:p>
          <a:p>
            <a:pPr lvl="1"/>
            <a:r>
              <a:rPr lang="en-US" dirty="0">
                <a:solidFill>
                  <a:schemeClr val="tx1"/>
                </a:solidFill>
              </a:rPr>
              <a:t>One of each: Wife, Daughter, Dog, Cat</a:t>
            </a:r>
          </a:p>
          <a:p>
            <a:r>
              <a:rPr lang="en-US" dirty="0">
                <a:solidFill>
                  <a:schemeClr val="tx1"/>
                </a:solidFill>
              </a:rPr>
              <a:t>Loves old Toyota trucks</a:t>
            </a:r>
          </a:p>
          <a:p>
            <a:r>
              <a:rPr lang="en-US" dirty="0">
                <a:solidFill>
                  <a:schemeClr val="tx1"/>
                </a:solidFill>
              </a:rPr>
              <a:t>Certified cave diver, Meme </a:t>
            </a:r>
            <a:r>
              <a:rPr lang="en-US" dirty="0">
                <a:solidFill>
                  <a:schemeClr val="tx1"/>
                </a:solidFill>
                <a:latin typeface="Baguet Script" panose="020F0502020204030204" pitchFamily="2" charset="0"/>
              </a:rPr>
              <a:t>connoisseur</a:t>
            </a:r>
            <a:r>
              <a:rPr lang="en-US" b="1" dirty="0">
                <a:solidFill>
                  <a:schemeClr val="tx1"/>
                </a:solidFill>
                <a:latin typeface="Baguet Script" panose="020F0502020204030204" pitchFamily="2" charset="0"/>
              </a:rPr>
              <a:t> </a:t>
            </a:r>
          </a:p>
          <a:p>
            <a:pPr marL="0" indent="0">
              <a:buNone/>
            </a:pPr>
            <a:endParaRPr lang="en-US" dirty="0">
              <a:solidFill>
                <a:schemeClr val="tx1"/>
              </a:solidFill>
            </a:endParaRPr>
          </a:p>
        </p:txBody>
      </p:sp>
      <p:pic>
        <p:nvPicPr>
          <p:cNvPr id="10" name="Picture 9" descr="A person with a beard and glasses&#10;&#10;AI-generated content may be incorrect.">
            <a:extLst>
              <a:ext uri="{FF2B5EF4-FFF2-40B4-BE49-F238E27FC236}">
                <a16:creationId xmlns:a16="http://schemas.microsoft.com/office/drawing/2014/main" id="{8E72E889-FAD5-8038-C0E5-94802A0F68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79477" y="575489"/>
            <a:ext cx="2400300" cy="3200400"/>
          </a:xfrm>
          <a:prstGeom prst="rect">
            <a:avLst/>
          </a:prstGeom>
          <a:ln>
            <a:solidFill>
              <a:schemeClr val="bg2"/>
            </a:solidFill>
          </a:ln>
          <a:effectLst>
            <a:outerShdw blurRad="292100" dist="139700" dir="2700000" algn="tl" rotWithShape="0">
              <a:srgbClr val="333333">
                <a:alpha val="65000"/>
              </a:srgbClr>
            </a:outerShdw>
          </a:effectLst>
        </p:spPr>
      </p:pic>
      <p:pic>
        <p:nvPicPr>
          <p:cNvPr id="12" name="Picture 11" descr="A underwater view of a scuba diver&#10;&#10;AI-generated content may be incorrect.">
            <a:extLst>
              <a:ext uri="{FF2B5EF4-FFF2-40B4-BE49-F238E27FC236}">
                <a16:creationId xmlns:a16="http://schemas.microsoft.com/office/drawing/2014/main" id="{22B4BB25-68AC-748B-1E66-46B5E47848D8}"/>
              </a:ext>
            </a:extLst>
          </p:cNvPr>
          <p:cNvPicPr>
            <a:picLocks noChangeAspect="1"/>
          </p:cNvPicPr>
          <p:nvPr/>
        </p:nvPicPr>
        <p:blipFill>
          <a:blip r:embed="rId7">
            <a:extLst>
              <a:ext uri="{28A0092B-C50C-407E-A947-70E740481C1C}">
                <a14:useLocalDpi xmlns:a14="http://schemas.microsoft.com/office/drawing/2010/main" val="0"/>
              </a:ext>
            </a:extLst>
          </a:blip>
          <a:srcRect l="33786" t="1464"/>
          <a:stretch/>
        </p:blipFill>
        <p:spPr>
          <a:xfrm>
            <a:off x="7069392" y="4607942"/>
            <a:ext cx="3680612" cy="1369337"/>
          </a:xfrm>
          <a:prstGeom prst="rect">
            <a:avLst/>
          </a:prstGeom>
          <a:ln>
            <a:solidFill>
              <a:schemeClr val="bg2"/>
            </a:solidFill>
          </a:ln>
          <a:effectLst>
            <a:outerShdw blurRad="292100" dist="139700" dir="2700000" algn="tl" rotWithShape="0">
              <a:srgbClr val="333333">
                <a:alpha val="65000"/>
              </a:srgbClr>
            </a:outerShdw>
          </a:effectLst>
        </p:spPr>
      </p:pic>
      <p:pic>
        <p:nvPicPr>
          <p:cNvPr id="15" name="Picture 14" descr="A qr code on a white background&#10;&#10;AI-generated content may be incorrect.">
            <a:extLst>
              <a:ext uri="{FF2B5EF4-FFF2-40B4-BE49-F238E27FC236}">
                <a16:creationId xmlns:a16="http://schemas.microsoft.com/office/drawing/2014/main" id="{AB9927AC-2041-7694-E7A5-A81DA4F41B2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69392" y="558863"/>
            <a:ext cx="1613015" cy="1667591"/>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F7861460-3B2B-4AD4-BFF8-6C3E3107C198}"/>
              </a:ext>
            </a:extLst>
          </p:cNvPr>
          <p:cNvSpPr txBox="1"/>
          <p:nvPr/>
        </p:nvSpPr>
        <p:spPr>
          <a:xfrm rot="16200000">
            <a:off x="5981375" y="1301561"/>
            <a:ext cx="1908637" cy="215444"/>
          </a:xfrm>
          <a:prstGeom prst="rect">
            <a:avLst/>
          </a:prstGeom>
          <a:noFill/>
        </p:spPr>
        <p:txBody>
          <a:bodyPr wrap="square" lIns="0" tIns="0" rIns="0" bIns="0" rtlCol="0">
            <a:spAutoFit/>
          </a:bodyPr>
          <a:lstStyle/>
          <a:p>
            <a:pPr algn="ctr"/>
            <a:r>
              <a:rPr lang="en-US" sz="1400" dirty="0">
                <a:solidFill>
                  <a:schemeClr val="accent2"/>
                </a:solidFill>
              </a:rPr>
              <a:t>You trust me, right?</a:t>
            </a:r>
          </a:p>
        </p:txBody>
      </p:sp>
      <p:pic>
        <p:nvPicPr>
          <p:cNvPr id="7" name="Picture 6">
            <a:extLst>
              <a:ext uri="{FF2B5EF4-FFF2-40B4-BE49-F238E27FC236}">
                <a16:creationId xmlns:a16="http://schemas.microsoft.com/office/drawing/2014/main" id="{C434CAC9-82B0-1393-94B6-23462BDF947C}"/>
              </a:ext>
            </a:extLst>
          </p:cNvPr>
          <p:cNvPicPr>
            <a:picLocks noChangeAspect="1"/>
          </p:cNvPicPr>
          <p:nvPr/>
        </p:nvPicPr>
        <p:blipFill>
          <a:blip r:embed="rId9"/>
          <a:stretch>
            <a:fillRect/>
          </a:stretch>
        </p:blipFill>
        <p:spPr>
          <a:xfrm>
            <a:off x="9387314" y="4182309"/>
            <a:ext cx="1992463" cy="1495409"/>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6ECFF62F-F1D5-1559-3E00-1A2411D91D82}"/>
              </a:ext>
            </a:extLst>
          </p:cNvPr>
          <p:cNvPicPr>
            <a:picLocks noChangeAspect="1"/>
          </p:cNvPicPr>
          <p:nvPr/>
        </p:nvPicPr>
        <p:blipFill>
          <a:blip r:embed="rId10"/>
          <a:stretch>
            <a:fillRect/>
          </a:stretch>
        </p:blipFill>
        <p:spPr>
          <a:xfrm>
            <a:off x="6113826" y="2459021"/>
            <a:ext cx="1519641" cy="1139732"/>
          </a:xfrm>
          <a:prstGeom prst="rect">
            <a:avLst/>
          </a:prstGeom>
          <a:ln>
            <a:noFill/>
          </a:ln>
          <a:effectLst>
            <a:outerShdw blurRad="292100" dist="139700" dir="2700000" algn="tl" rotWithShape="0">
              <a:srgbClr val="333333">
                <a:alpha val="65000"/>
              </a:srgbClr>
            </a:outerShdw>
          </a:effectLst>
        </p:spPr>
      </p:pic>
      <p:pic>
        <p:nvPicPr>
          <p:cNvPr id="8" name="Picture 7" descr="A person kissing a child's cheek&#10;&#10;AI-generated content may be incorrect.">
            <a:extLst>
              <a:ext uri="{FF2B5EF4-FFF2-40B4-BE49-F238E27FC236}">
                <a16:creationId xmlns:a16="http://schemas.microsoft.com/office/drawing/2014/main" id="{B11C05EE-211A-9E08-E2CE-49DAECAF7D5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357891" y="2619702"/>
            <a:ext cx="1445466" cy="1367202"/>
          </a:xfrm>
          <a:prstGeom prst="rect">
            <a:avLst/>
          </a:prstGeom>
          <a:ln>
            <a:solidFill>
              <a:schemeClr val="bg2"/>
            </a:solid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43BCA220-9FF9-EBFA-97F7-085CE8620334}"/>
              </a:ext>
            </a:extLst>
          </p:cNvPr>
          <p:cNvPicPr>
            <a:picLocks noChangeAspect="1"/>
          </p:cNvPicPr>
          <p:nvPr/>
        </p:nvPicPr>
        <p:blipFill>
          <a:blip r:embed="rId12"/>
          <a:srcRect l="5399" t="22227" r="25361" b="36560"/>
          <a:stretch>
            <a:fillRect/>
          </a:stretch>
        </p:blipFill>
        <p:spPr>
          <a:xfrm>
            <a:off x="6626620" y="3525194"/>
            <a:ext cx="1182358" cy="938341"/>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49028C79-932C-6FB0-A30F-B87F46DF3758}"/>
              </a:ext>
            </a:extLst>
          </p:cNvPr>
          <p:cNvPicPr>
            <a:picLocks noChangeAspect="1"/>
          </p:cNvPicPr>
          <p:nvPr/>
        </p:nvPicPr>
        <p:blipFill rotWithShape="1">
          <a:blip r:embed="rId13">
            <a:extLst>
              <a:ext uri="{28A0092B-C50C-407E-A947-70E740481C1C}">
                <a14:useLocalDpi xmlns:a14="http://schemas.microsoft.com/office/drawing/2010/main" val="0"/>
              </a:ext>
            </a:extLst>
          </a:blip>
          <a:srcRect l="5705" t="14260" r="19958" b="20077"/>
          <a:stretch/>
        </p:blipFill>
        <p:spPr>
          <a:xfrm>
            <a:off x="6179402" y="5411536"/>
            <a:ext cx="1416400" cy="938342"/>
          </a:xfrm>
          <a:prstGeom prst="rect">
            <a:avLst/>
          </a:prstGeom>
          <a:ln>
            <a:solidFill>
              <a:schemeClr val="bg2"/>
            </a:solid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97AF8297-8498-D6D8-1927-0ED1BD87E0D6}"/>
              </a:ext>
            </a:extLst>
          </p:cNvPr>
          <p:cNvSpPr txBox="1"/>
          <p:nvPr/>
        </p:nvSpPr>
        <p:spPr>
          <a:xfrm>
            <a:off x="6795546" y="2204748"/>
            <a:ext cx="2068195" cy="215444"/>
          </a:xfrm>
          <a:prstGeom prst="rect">
            <a:avLst/>
          </a:prstGeom>
          <a:noFill/>
        </p:spPr>
        <p:txBody>
          <a:bodyPr wrap="none" rtlCol="0">
            <a:spAutoFit/>
          </a:bodyPr>
          <a:lstStyle/>
          <a:p>
            <a:r>
              <a:rPr lang="en-US" sz="800" dirty="0">
                <a:solidFill>
                  <a:schemeClr val="bg2">
                    <a:lumMod val="40000"/>
                    <a:lumOff val="60000"/>
                  </a:schemeClr>
                </a:solidFill>
              </a:rPr>
              <a:t>https://</a:t>
            </a:r>
            <a:r>
              <a:rPr lang="en-US" sz="800" dirty="0" err="1">
                <a:solidFill>
                  <a:schemeClr val="bg2">
                    <a:lumMod val="40000"/>
                    <a:lumOff val="60000"/>
                  </a:schemeClr>
                </a:solidFill>
              </a:rPr>
              <a:t>linkedin.com</a:t>
            </a:r>
            <a:r>
              <a:rPr lang="en-US" sz="800" dirty="0">
                <a:solidFill>
                  <a:schemeClr val="bg2">
                    <a:lumMod val="40000"/>
                    <a:lumOff val="60000"/>
                  </a:schemeClr>
                </a:solidFill>
              </a:rPr>
              <a:t>/in/</a:t>
            </a:r>
            <a:r>
              <a:rPr lang="en-US" sz="800" dirty="0" err="1">
                <a:solidFill>
                  <a:schemeClr val="bg2">
                    <a:lumMod val="40000"/>
                    <a:lumOff val="60000"/>
                  </a:schemeClr>
                </a:solidFill>
              </a:rPr>
              <a:t>davidanthonybrooks</a:t>
            </a:r>
            <a:endParaRPr lang="en-US" sz="800" dirty="0">
              <a:solidFill>
                <a:schemeClr val="bg2">
                  <a:lumMod val="40000"/>
                  <a:lumOff val="60000"/>
                </a:schemeClr>
              </a:solidFill>
            </a:endParaRPr>
          </a:p>
        </p:txBody>
      </p:sp>
    </p:spTree>
    <p:extLst>
      <p:ext uri="{BB962C8B-B14F-4D97-AF65-F5344CB8AC3E}">
        <p14:creationId xmlns:p14="http://schemas.microsoft.com/office/powerpoint/2010/main" val="3637191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5563-F814-BEA7-DF0C-1026828A459D}"/>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AA22BA3D-AA9E-818C-24F2-30BB87A7E85D}"/>
              </a:ext>
            </a:extLst>
          </p:cNvPr>
          <p:cNvSpPr>
            <a:spLocks noGrp="1"/>
          </p:cNvSpPr>
          <p:nvPr>
            <p:ph idx="1"/>
          </p:nvPr>
        </p:nvSpPr>
        <p:spPr/>
        <p:txBody>
          <a:bodyPr>
            <a:normAutofit/>
          </a:bodyPr>
          <a:lstStyle/>
          <a:p>
            <a:pPr marL="0" lvl="0" indent="0">
              <a:spcBef>
                <a:spcPts val="1600"/>
              </a:spcBef>
              <a:spcAft>
                <a:spcPts val="600"/>
              </a:spcAft>
              <a:buNone/>
            </a:pPr>
            <a:r>
              <a:rPr lang="en-US" sz="2000" b="1" dirty="0">
                <a:solidFill>
                  <a:srgbClr val="1863DC"/>
                </a:solidFill>
              </a:rPr>
              <a:t>Assignment Details</a:t>
            </a:r>
          </a:p>
          <a:p>
            <a:pPr>
              <a:spcAft>
                <a:spcPts val="400"/>
              </a:spcAft>
            </a:pPr>
            <a:r>
              <a:rPr lang="en-US" sz="1800" dirty="0"/>
              <a:t>One week to design, deploy, secure, and clearly explain a modern cloud-native environment</a:t>
            </a:r>
          </a:p>
          <a:p>
            <a:pPr>
              <a:spcAft>
                <a:spcPts val="400"/>
              </a:spcAft>
            </a:pPr>
            <a:r>
              <a:rPr lang="en-US" sz="1800" dirty="0"/>
              <a:t>Scope: Kubernetes cluster + OWASP Juice Shop + 3 live OWASP Top 10 exploits + defensive hardening</a:t>
            </a:r>
          </a:p>
          <a:p>
            <a:pPr marL="0" lvl="0" indent="0">
              <a:spcBef>
                <a:spcPts val="1600"/>
              </a:spcBef>
              <a:spcAft>
                <a:spcPts val="600"/>
              </a:spcAft>
              <a:buNone/>
            </a:pPr>
            <a:r>
              <a:rPr lang="en-US" sz="2000" b="1" dirty="0">
                <a:solidFill>
                  <a:srgbClr val="FE977D"/>
                </a:solidFill>
              </a:rPr>
              <a:t>Build Overview</a:t>
            </a:r>
          </a:p>
          <a:p>
            <a:pPr>
              <a:spcAft>
                <a:spcPts val="400"/>
              </a:spcAft>
            </a:pPr>
            <a:r>
              <a:rPr lang="en-US" sz="1800" dirty="0"/>
              <a:t>AWS EKS cluster, Gateway API via AWS Load Balancer Controller, Falco runtime detection</a:t>
            </a:r>
          </a:p>
          <a:p>
            <a:pPr>
              <a:spcAft>
                <a:spcPts val="400"/>
              </a:spcAft>
            </a:pPr>
            <a:r>
              <a:rPr lang="en-US" sz="1800" dirty="0"/>
              <a:t>Juice Shop deployed from versioned manifests, torn down after every session</a:t>
            </a:r>
          </a:p>
          <a:p>
            <a:pPr marL="0" lvl="0" indent="0">
              <a:spcBef>
                <a:spcPts val="1600"/>
              </a:spcBef>
              <a:spcAft>
                <a:spcPts val="600"/>
              </a:spcAft>
              <a:buNone/>
            </a:pPr>
            <a:r>
              <a:rPr lang="en-US" sz="2000" b="1" dirty="0">
                <a:solidFill>
                  <a:srgbClr val="891BC7"/>
                </a:solidFill>
              </a:rPr>
              <a:t>This Deck</a:t>
            </a:r>
          </a:p>
          <a:p>
            <a:pPr>
              <a:spcAft>
                <a:spcPts val="400"/>
              </a:spcAft>
            </a:pPr>
            <a:r>
              <a:rPr lang="en-US" sz="1800" dirty="0"/>
              <a:t>Architecture &amp; tradeoffs → deployment → live exploitation → incident response → hardening → lessons learned</a:t>
            </a:r>
          </a:p>
          <a:p>
            <a:pPr>
              <a:spcAft>
                <a:spcPts val="400"/>
              </a:spcAft>
            </a:pPr>
            <a:r>
              <a:rPr lang="en-US" sz="1800" dirty="0"/>
              <a:t>~30–45 minutes: slides + live demo</a:t>
            </a:r>
          </a:p>
        </p:txBody>
      </p:sp>
      <p:sp>
        <p:nvSpPr>
          <p:cNvPr id="500" name="Slide Number Placeholder"/>
          <p:cNvSpPr>
            <a:spLocks noGrp="1"/>
          </p:cNvSpPr>
          <p:nvPr>
            <p:ph type="sldNum" sz="quarter" idx="12"/>
          </p:nvPr>
        </p:nvSpPr>
        <p:spPr/>
        <p:txBody>
          <a:bodyPr/>
          <a:lstStyle/>
          <a:p>
            <a:pPr algn="ctr"/>
            <a:fld id="{B33FD025-7F13-7547-89AF-6B9129FB7D4F}" type="slidenum">
              <a:rPr lang="en-US" sz="1400" b="1">
                <a:solidFill>
                  <a:srgbClr val="1863DC"/>
                </a:solidFill>
              </a:rPr>
              <a:t>3</a:t>
            </a:fld>
            <a:endParaRPr lang="en-US" sz="1400" b="1">
              <a:solidFill>
                <a:srgbClr val="1863DC"/>
              </a:solidFill>
            </a:endParaRPr>
          </a:p>
        </p:txBody>
      </p:sp>
    </p:spTree>
    <p:extLst>
      <p:ext uri="{BB962C8B-B14F-4D97-AF65-F5344CB8AC3E}">
        <p14:creationId xmlns:p14="http://schemas.microsoft.com/office/powerpoint/2010/main" val="1395157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0BA88D4-6A60-6F1C-B447-D366578C4195}"/>
              </a:ext>
            </a:extLst>
          </p:cNvPr>
          <p:cNvSpPr txBox="1">
            <a:spLocks/>
          </p:cNvSpPr>
          <p:nvPr/>
        </p:nvSpPr>
        <p:spPr>
          <a:xfrm>
            <a:off x="838200" y="368300"/>
            <a:ext cx="5207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rgbClr val="12141C"/>
                </a:solidFill>
                <a:latin typeface="+mj-lt"/>
                <a:ea typeface="+mj-ea"/>
                <a:cs typeface="+mj-cs"/>
              </a:defRPr>
            </a:lvl1pPr>
          </a:lstStyle>
          <a:p>
            <a:r>
              <a:rPr lang="en-US" sz="4400" dirty="0"/>
              <a:t>Architecture</a:t>
            </a:r>
          </a:p>
        </p:txBody>
      </p:sp>
      <p:sp>
        <p:nvSpPr>
          <p:cNvPr id="13" name="TextBox 12">
            <a:extLst>
              <a:ext uri="{FF2B5EF4-FFF2-40B4-BE49-F238E27FC236}">
                <a16:creationId xmlns:a16="http://schemas.microsoft.com/office/drawing/2014/main" id="{9402607C-1CBD-BF73-C34C-84D8C978E573}"/>
              </a:ext>
            </a:extLst>
          </p:cNvPr>
          <p:cNvSpPr txBox="1"/>
          <p:nvPr/>
        </p:nvSpPr>
        <p:spPr>
          <a:xfrm>
            <a:off x="838200" y="1779207"/>
            <a:ext cx="5016500" cy="4380686"/>
          </a:xfrm>
          <a:prstGeom prst="rect">
            <a:avLst/>
          </a:prstGeom>
          <a:noFill/>
        </p:spPr>
        <p:txBody>
          <a:bodyPr wrap="square" rtlCol="0">
            <a:spAutoFit/>
          </a:bodyPr>
          <a:lstStyle/>
          <a:p>
            <a:pPr marL="0" indent="0">
              <a:spcBef>
                <a:spcPts val="800"/>
              </a:spcBef>
              <a:buNone/>
            </a:pPr>
            <a:r>
              <a:rPr lang="en-US" sz="2000" b="1" dirty="0">
                <a:solidFill>
                  <a:schemeClr val="accent1"/>
                </a:solidFill>
              </a:rPr>
              <a:t>Topology</a:t>
            </a:r>
            <a:br>
              <a:rPr lang="en-US" b="1" dirty="0">
                <a:solidFill>
                  <a:schemeClr val="accent1"/>
                </a:solidFill>
              </a:rPr>
            </a:br>
            <a:endParaRPr lang="en-US" b="1" dirty="0">
              <a:solidFill>
                <a:schemeClr val="accent1"/>
              </a:solidFill>
            </a:endParaRPr>
          </a:p>
          <a:p>
            <a:pPr marL="228600" indent="-228600">
              <a:buClr>
                <a:schemeClr val="accent1"/>
              </a:buClr>
              <a:buFont typeface="Arial" panose="020B0604020202020204" pitchFamily="34" charset="0"/>
              <a:buChar char="•"/>
            </a:pPr>
            <a:r>
              <a:rPr lang="en-US" sz="1400" dirty="0"/>
              <a:t>AWS EKS 1.36, 2× </a:t>
            </a:r>
            <a:r>
              <a:rPr lang="en-US" sz="1300" dirty="0">
                <a:latin typeface="Consolas"/>
              </a:rPr>
              <a:t>t3.small</a:t>
            </a:r>
            <a:r>
              <a:rPr lang="en-US" sz="1400" dirty="0"/>
              <a:t> managed nodegroup</a:t>
            </a:r>
          </a:p>
          <a:p>
            <a:pPr marL="228600" indent="-228600">
              <a:buClr>
                <a:schemeClr val="accent1"/>
              </a:buClr>
              <a:buFont typeface="Arial" panose="020B0604020202020204" pitchFamily="34" charset="0"/>
              <a:buChar char="•"/>
            </a:pPr>
            <a:r>
              <a:rPr lang="en-US" sz="1400" b="1" dirty="0"/>
              <a:t>Entry: </a:t>
            </a:r>
            <a:r>
              <a:rPr lang="en-US" sz="1400" dirty="0"/>
              <a:t>Gateway API (AWS LBC) → ALB → </a:t>
            </a:r>
            <a:r>
              <a:rPr lang="en-US" sz="1300" dirty="0">
                <a:solidFill>
                  <a:schemeClr val="accent2"/>
                </a:solidFill>
                <a:latin typeface="Consolas"/>
              </a:rPr>
              <a:t>juice-shop</a:t>
            </a:r>
            <a:r>
              <a:rPr lang="en-US" sz="1400" dirty="0"/>
              <a:t> namespace</a:t>
            </a:r>
          </a:p>
          <a:p>
            <a:pPr marL="228600" indent="-228600">
              <a:buClr>
                <a:schemeClr val="accent1"/>
              </a:buClr>
              <a:buFont typeface="Arial" panose="020B0604020202020204" pitchFamily="34" charset="0"/>
              <a:buChar char="•"/>
            </a:pPr>
            <a:r>
              <a:rPr lang="en-US" sz="1300" b="1" dirty="0">
                <a:latin typeface="Consolas"/>
              </a:rPr>
              <a:t>security-tooling</a:t>
            </a:r>
            <a:r>
              <a:rPr lang="en-US" sz="1400" b="1" dirty="0"/>
              <a:t>: </a:t>
            </a:r>
            <a:r>
              <a:rPr lang="en-US" sz="1400" dirty="0"/>
              <a:t>Falco </a:t>
            </a:r>
            <a:r>
              <a:rPr lang="en-US" sz="1300" dirty="0">
                <a:latin typeface="Consolas"/>
              </a:rPr>
              <a:t>DaemonSet</a:t>
            </a:r>
            <a:r>
              <a:rPr lang="en-US" sz="1400" dirty="0"/>
              <a:t>, eBPF/kernel-level runtime detection</a:t>
            </a:r>
            <a:br>
              <a:rPr lang="en-US" sz="1400" dirty="0"/>
            </a:br>
            <a:endParaRPr lang="en-US" sz="1400" dirty="0"/>
          </a:p>
          <a:p>
            <a:pPr marL="0" indent="0">
              <a:spcBef>
                <a:spcPts val="800"/>
              </a:spcBef>
              <a:buNone/>
            </a:pPr>
            <a:r>
              <a:rPr lang="en-US" sz="2000" b="1" dirty="0">
                <a:solidFill>
                  <a:schemeClr val="accent1"/>
                </a:solidFill>
              </a:rPr>
              <a:t>Rationale</a:t>
            </a:r>
            <a:br>
              <a:rPr lang="en-US" b="1" dirty="0">
                <a:solidFill>
                  <a:schemeClr val="accent1"/>
                </a:solidFill>
              </a:rPr>
            </a:br>
            <a:endParaRPr lang="en-US" b="1" dirty="0">
              <a:solidFill>
                <a:schemeClr val="accent1"/>
              </a:solidFill>
            </a:endParaRPr>
          </a:p>
          <a:p>
            <a:pPr marL="228600" indent="-228600">
              <a:buClr>
                <a:schemeClr val="accent1"/>
              </a:buClr>
              <a:buFont typeface="Arial" panose="020B0604020202020204" pitchFamily="34" charset="0"/>
              <a:buChar char="•"/>
            </a:pPr>
            <a:r>
              <a:rPr lang="en-US" sz="1400" b="1" dirty="0"/>
              <a:t>AWS EKS: </a:t>
            </a:r>
            <a:r>
              <a:rPr lang="en-US" sz="1400" dirty="0"/>
              <a:t>enterprise-credible, aligns with Upwind’s AWS Security Hub partnership, real IAM/VPC/IRSA talking points</a:t>
            </a:r>
          </a:p>
          <a:p>
            <a:pPr marL="228600" indent="-228600">
              <a:buClr>
                <a:schemeClr val="accent1"/>
              </a:buClr>
              <a:buFont typeface="Arial" panose="020B0604020202020204" pitchFamily="34" charset="0"/>
              <a:buChar char="•"/>
            </a:pPr>
            <a:r>
              <a:rPr lang="en-US" sz="1400" b="1" dirty="0"/>
              <a:t>Gateway API via AWS LBC: </a:t>
            </a:r>
            <a:r>
              <a:rPr lang="en-US" sz="1400" dirty="0"/>
              <a:t>Kubernetes’ own recommended path for exposing services on EKS</a:t>
            </a:r>
          </a:p>
          <a:p>
            <a:pPr marL="685800" lvl="1" indent="-228600">
              <a:buClr>
                <a:schemeClr val="accent1"/>
              </a:buClr>
              <a:buFont typeface="Arial" panose="020B0604020202020204" pitchFamily="34" charset="0"/>
              <a:buChar char="•"/>
            </a:pPr>
            <a:r>
              <a:rPr lang="en-US" sz="1400" dirty="0"/>
              <a:t>Originally considered </a:t>
            </a:r>
            <a:r>
              <a:rPr lang="en-US" sz="1300" dirty="0">
                <a:latin typeface="Consolas"/>
              </a:rPr>
              <a:t>ingress-nginx</a:t>
            </a:r>
            <a:r>
              <a:rPr lang="en-US" sz="1400" dirty="0"/>
              <a:t> for lab simplicity, but the project has been ended as of March 2026.</a:t>
            </a:r>
          </a:p>
          <a:p>
            <a:pPr marL="228600" indent="-228600">
              <a:buClr>
                <a:schemeClr val="accent1"/>
              </a:buClr>
              <a:buFont typeface="Arial" panose="020B0604020202020204" pitchFamily="34" charset="0"/>
              <a:buChar char="•"/>
            </a:pPr>
            <a:r>
              <a:rPr lang="en-US" sz="1400" b="1" dirty="0"/>
              <a:t>Falco: </a:t>
            </a:r>
            <a:r>
              <a:rPr lang="en-US" sz="1400" dirty="0"/>
              <a:t>kernel/eBPF-level runtime detection, complementary to app-layer controls</a:t>
            </a:r>
          </a:p>
        </p:txBody>
      </p:sp>
      <p:pic>
        <p:nvPicPr>
          <p:cNvPr id="17" name="Graphic 16">
            <a:extLst>
              <a:ext uri="{FF2B5EF4-FFF2-40B4-BE49-F238E27FC236}">
                <a16:creationId xmlns:a16="http://schemas.microsoft.com/office/drawing/2014/main" id="{B137ABC1-9B85-4683-98E8-BDA58E6B5B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5200" y="368404"/>
            <a:ext cx="5990747" cy="6121296"/>
          </a:xfrm>
          <a:prstGeom prst="rect">
            <a:avLst/>
          </a:prstGeom>
        </p:spPr>
      </p:pic>
      <p:sp>
        <p:nvSpPr>
          <p:cNvPr id="2" name="TextBox 1">
            <a:extLst>
              <a:ext uri="{FF2B5EF4-FFF2-40B4-BE49-F238E27FC236}">
                <a16:creationId xmlns:a16="http://schemas.microsoft.com/office/drawing/2014/main" id="{4A6E23A1-6401-4440-B9AF-518296D49FE6}"/>
              </a:ext>
            </a:extLst>
          </p:cNvPr>
          <p:cNvSpPr txBox="1"/>
          <p:nvPr/>
        </p:nvSpPr>
        <p:spPr>
          <a:xfrm>
            <a:off x="838200" y="6565900"/>
            <a:ext cx="9525000" cy="254000"/>
          </a:xfrm>
          <a:prstGeom prst="rect">
            <a:avLst/>
          </a:prstGeom>
          <a:noFill/>
        </p:spPr>
        <p:txBody>
          <a:bodyPr vertOverflow="overflow" vert="horz" wrap="square" rtlCol="0" anchor="t">
            <a:noAutofit/>
          </a:bodyPr>
          <a:lstStyle/>
          <a:p>
            <a:pPr algn="l"/>
            <a:r>
              <a:rPr lang="en-US" sz="1400" i="1" dirty="0">
                <a:solidFill>
                  <a:srgbClr val="8A93A6"/>
                </a:solidFill>
              </a:rPr>
              <a:t>Full manifests, diagrams &amp; scripts: </a:t>
            </a:r>
            <a:r>
              <a:rPr lang="en-US" sz="1300" i="1" dirty="0">
                <a:solidFill>
                  <a:srgbClr val="8A93A6"/>
                </a:solidFill>
                <a:latin typeface="Consolas"/>
              </a:rPr>
              <a:t>github.com/economycomfort/upwind-sa-lab</a:t>
            </a:r>
          </a:p>
        </p:txBody>
      </p:sp>
    </p:spTree>
    <p:extLst>
      <p:ext uri="{BB962C8B-B14F-4D97-AF65-F5344CB8AC3E}">
        <p14:creationId xmlns:p14="http://schemas.microsoft.com/office/powerpoint/2010/main" val="4145769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57CB0-360C-0E28-7AD0-430F63CDA98B}"/>
              </a:ext>
            </a:extLst>
          </p:cNvPr>
          <p:cNvSpPr>
            <a:spLocks noGrp="1"/>
          </p:cNvSpPr>
          <p:nvPr>
            <p:ph type="title"/>
          </p:nvPr>
        </p:nvSpPr>
        <p:spPr/>
        <p:txBody>
          <a:bodyPr/>
          <a:lstStyle/>
          <a:p>
            <a:r>
              <a:rPr lang="en-US"/>
              <a:t>Design Tradeoffs</a:t>
            </a:r>
          </a:p>
        </p:txBody>
      </p:sp>
      <p:graphicFrame>
        <p:nvGraphicFramePr>
          <p:cNvPr id="4" name="Table 3">
            <a:extLst>
              <a:ext uri="{FF2B5EF4-FFF2-40B4-BE49-F238E27FC236}">
                <a16:creationId xmlns:a16="http://schemas.microsoft.com/office/drawing/2014/main" id="{FB9ADBE7-F0CD-2E41-8A67-B3F6D743EFF2}"/>
              </a:ext>
            </a:extLst>
          </p:cNvPr>
          <p:cNvGraphicFramePr>
            <a:graphicFrameLocks noGrp="1"/>
          </p:cNvGraphicFramePr>
          <p:nvPr>
            <p:extLst>
              <p:ext uri="{D42A27DB-BD31-4B8C-83A1-F6EECF244321}">
                <p14:modId xmlns:p14="http://schemas.microsoft.com/office/powerpoint/2010/main" val="3865918172"/>
              </p:ext>
            </p:extLst>
          </p:nvPr>
        </p:nvGraphicFramePr>
        <p:xfrm>
          <a:off x="838200" y="1828800"/>
          <a:ext cx="10515600" cy="4063168"/>
        </p:xfrm>
        <a:graphic>
          <a:graphicData uri="http://schemas.openxmlformats.org/drawingml/2006/table">
            <a:tbl>
              <a:tblPr firstRow="1">
                <a:tableStyleId>{2D5ABB26-0587-4C30-8999-92F81FD0307C}</a:tableStyleId>
              </a:tblPr>
              <a:tblGrid>
                <a:gridCol w="1577340">
                  <a:extLst>
                    <a:ext uri="{9D8B030D-6E8A-4147-A177-3AD203B41FA5}">
                      <a16:colId xmlns:a16="http://schemas.microsoft.com/office/drawing/2014/main" val="1145268550"/>
                    </a:ext>
                  </a:extLst>
                </a:gridCol>
                <a:gridCol w="2103120">
                  <a:extLst>
                    <a:ext uri="{9D8B030D-6E8A-4147-A177-3AD203B41FA5}">
                      <a16:colId xmlns:a16="http://schemas.microsoft.com/office/drawing/2014/main" val="2942063713"/>
                    </a:ext>
                  </a:extLst>
                </a:gridCol>
                <a:gridCol w="4206240">
                  <a:extLst>
                    <a:ext uri="{9D8B030D-6E8A-4147-A177-3AD203B41FA5}">
                      <a16:colId xmlns:a16="http://schemas.microsoft.com/office/drawing/2014/main" val="3100150875"/>
                    </a:ext>
                  </a:extLst>
                </a:gridCol>
                <a:gridCol w="2628900">
                  <a:extLst>
                    <a:ext uri="{9D8B030D-6E8A-4147-A177-3AD203B41FA5}">
                      <a16:colId xmlns:a16="http://schemas.microsoft.com/office/drawing/2014/main" val="248956114"/>
                    </a:ext>
                  </a:extLst>
                </a:gridCol>
              </a:tblGrid>
              <a:tr h="620000">
                <a:tc>
                  <a:txBody>
                    <a:bodyPr/>
                    <a:lstStyle/>
                    <a:p>
                      <a:pPr algn="ctr"/>
                      <a:r>
                        <a:rPr lang="en-US" sz="1400" b="1">
                          <a:solidFill>
                            <a:srgbClr val="FFFFFF"/>
                          </a:solidFill>
                        </a:rPr>
                        <a:t>Decision</a:t>
                      </a:r>
                    </a:p>
                  </a:txBody>
                  <a:tcPr marL="137160" marR="137160" marT="54864" marB="54864" anchor="ctr">
                    <a:lnL>
                      <a:noFill/>
                    </a:lnL>
                    <a:lnR>
                      <a:noFill/>
                    </a:lnR>
                    <a:lnT>
                      <a:noFill/>
                    </a:lnT>
                    <a:lnB w="19050" cap="flat">
                      <a:solidFill>
                        <a:srgbClr val="1445A8"/>
                      </a:solidFill>
                    </a:lnB>
                    <a:solidFill>
                      <a:srgbClr val="1863DC"/>
                    </a:solidFill>
                  </a:tcPr>
                </a:tc>
                <a:tc>
                  <a:txBody>
                    <a:bodyPr/>
                    <a:lstStyle/>
                    <a:p>
                      <a:pPr algn="ctr"/>
                      <a:r>
                        <a:rPr lang="en-US" sz="1400" b="1">
                          <a:solidFill>
                            <a:srgbClr val="FFFFFF"/>
                          </a:solidFill>
                        </a:rPr>
                        <a:t>Choice</a:t>
                      </a:r>
                    </a:p>
                  </a:txBody>
                  <a:tcPr marL="137160" marR="137160" marT="54864" marB="54864" anchor="ctr">
                    <a:lnL>
                      <a:noFill/>
                    </a:lnL>
                    <a:lnR>
                      <a:noFill/>
                    </a:lnR>
                    <a:lnT>
                      <a:noFill/>
                    </a:lnT>
                    <a:lnB w="19050" cap="flat">
                      <a:solidFill>
                        <a:srgbClr val="1445A8"/>
                      </a:solidFill>
                    </a:lnB>
                    <a:solidFill>
                      <a:srgbClr val="1863DC"/>
                    </a:solidFill>
                  </a:tcPr>
                </a:tc>
                <a:tc>
                  <a:txBody>
                    <a:bodyPr/>
                    <a:lstStyle/>
                    <a:p>
                      <a:pPr algn="ctr"/>
                      <a:r>
                        <a:rPr lang="en-US" sz="1400" b="1">
                          <a:solidFill>
                            <a:srgbClr val="FFFFFF"/>
                          </a:solidFill>
                        </a:rPr>
                        <a:t>Why</a:t>
                      </a:r>
                    </a:p>
                  </a:txBody>
                  <a:tcPr marL="137160" marR="137160" marT="54864" marB="54864" anchor="ctr">
                    <a:lnL>
                      <a:noFill/>
                    </a:lnL>
                    <a:lnR>
                      <a:noFill/>
                    </a:lnR>
                    <a:lnT>
                      <a:noFill/>
                    </a:lnT>
                    <a:lnB w="19050" cap="flat">
                      <a:solidFill>
                        <a:srgbClr val="1445A8"/>
                      </a:solidFill>
                    </a:lnB>
                    <a:solidFill>
                      <a:srgbClr val="1863DC"/>
                    </a:solidFill>
                  </a:tcPr>
                </a:tc>
                <a:tc>
                  <a:txBody>
                    <a:bodyPr/>
                    <a:lstStyle/>
                    <a:p>
                      <a:pPr algn="ctr"/>
                      <a:r>
                        <a:rPr lang="en-US" sz="1400" b="1">
                          <a:solidFill>
                            <a:srgbClr val="FFFFFF"/>
                          </a:solidFill>
                        </a:rPr>
                        <a:t>Alternative Considered</a:t>
                      </a:r>
                    </a:p>
                  </a:txBody>
                  <a:tcPr marL="137160" marR="137160" marT="54864" marB="54864" anchor="ctr">
                    <a:lnL>
                      <a:noFill/>
                    </a:lnL>
                    <a:lnR>
                      <a:noFill/>
                    </a:lnR>
                    <a:lnT>
                      <a:noFill/>
                    </a:lnT>
                    <a:lnB w="19050" cap="flat">
                      <a:solidFill>
                        <a:srgbClr val="1445A8"/>
                      </a:solidFill>
                    </a:lnB>
                    <a:solidFill>
                      <a:srgbClr val="1863DC"/>
                    </a:solidFill>
                  </a:tcPr>
                </a:tc>
                <a:extLst>
                  <a:ext uri="{0D108BD9-81ED-4DB2-BD59-A6C34878D82A}">
                    <a16:rowId xmlns:a16="http://schemas.microsoft.com/office/drawing/2014/main" val="1223627593"/>
                  </a:ext>
                </a:extLst>
              </a:tr>
              <a:tr h="620000">
                <a:tc>
                  <a:txBody>
                    <a:bodyPr/>
                    <a:lstStyle/>
                    <a:p>
                      <a:pPr algn="l"/>
                      <a:r>
                        <a:rPr lang="en-US" sz="1400" b="1" dirty="0"/>
                        <a:t>Juice Shop App Exposure</a:t>
                      </a:r>
                    </a:p>
                  </a:txBody>
                  <a:tcPr marL="137160" marR="137160" marT="54864" marB="54864" anchor="ctr">
                    <a:lnL>
                      <a:noFill/>
                    </a:lnL>
                    <a:lnR>
                      <a:noFill/>
                    </a:lnR>
                    <a:lnT w="19050" cap="flat" cmpd="sng" algn="ctr">
                      <a:solidFill>
                        <a:srgbClr val="1445A8"/>
                      </a:solidFill>
                      <a:prstDash val="solid"/>
                      <a:round/>
                      <a:headEnd type="none" w="med" len="med"/>
                      <a:tailEnd type="none" w="med" len="med"/>
                    </a:lnT>
                    <a:lnB w="9525" cap="flat">
                      <a:solidFill>
                        <a:srgbClr val="E3E5EC"/>
                      </a:solidFill>
                    </a:lnB>
                    <a:noFill/>
                  </a:tcPr>
                </a:tc>
                <a:tc>
                  <a:txBody>
                    <a:bodyPr/>
                    <a:lstStyle/>
                    <a:p>
                      <a:pPr algn="l"/>
                      <a:r>
                        <a:rPr lang="en-US" sz="1400" dirty="0"/>
                        <a:t>Gateway API via AWS LBC</a:t>
                      </a:r>
                    </a:p>
                  </a:txBody>
                  <a:tcPr marL="137160" marR="137160" marT="54864" marB="54864" anchor="ctr">
                    <a:lnL>
                      <a:noFill/>
                    </a:lnL>
                    <a:lnR>
                      <a:noFill/>
                    </a:lnR>
                    <a:lnT w="19050" cap="flat" cmpd="sng" algn="ctr">
                      <a:solidFill>
                        <a:srgbClr val="1445A8"/>
                      </a:solidFill>
                      <a:prstDash val="solid"/>
                      <a:round/>
                      <a:headEnd type="none" w="med" len="med"/>
                      <a:tailEnd type="none" w="med" len="med"/>
                    </a:lnT>
                    <a:lnB w="9525" cap="flat">
                      <a:solidFill>
                        <a:srgbClr val="E3E5EC"/>
                      </a:solidFill>
                    </a:lnB>
                    <a:noFill/>
                  </a:tcPr>
                </a:tc>
                <a:tc>
                  <a:txBody>
                    <a:bodyPr/>
                    <a:lstStyle/>
                    <a:p>
                      <a:pPr algn="l"/>
                      <a:r>
                        <a:rPr lang="en-US" sz="1300">
                          <a:latin typeface="Consolas"/>
                        </a:rPr>
                        <a:t>ingress-nginx</a:t>
                      </a:r>
                      <a:r>
                        <a:rPr lang="en-US" sz="1400"/>
                        <a:t> retired Mar 2026, no CVE fixes; Gateway API is K8s' recommended successor</a:t>
                      </a:r>
                    </a:p>
                  </a:txBody>
                  <a:tcPr marL="137160" marR="137160" marT="54864" marB="54864" anchor="ctr">
                    <a:lnL>
                      <a:noFill/>
                    </a:lnL>
                    <a:lnR>
                      <a:noFill/>
                    </a:lnR>
                    <a:lnT w="19050" cap="flat" cmpd="sng" algn="ctr">
                      <a:solidFill>
                        <a:srgbClr val="1445A8"/>
                      </a:solidFill>
                      <a:prstDash val="solid"/>
                      <a:round/>
                      <a:headEnd type="none" w="med" len="med"/>
                      <a:tailEnd type="none" w="med" len="med"/>
                    </a:lnT>
                    <a:lnB w="9525" cap="flat">
                      <a:solidFill>
                        <a:srgbClr val="E3E5EC"/>
                      </a:solidFill>
                    </a:lnB>
                    <a:noFill/>
                  </a:tcPr>
                </a:tc>
                <a:tc>
                  <a:txBody>
                    <a:bodyPr/>
                    <a:lstStyle/>
                    <a:p>
                      <a:pPr algn="l"/>
                      <a:r>
                        <a:rPr lang="en-US" sz="1400"/>
                        <a:t>Cilium Gateway API, NGINX Gateway Fabric</a:t>
                      </a:r>
                    </a:p>
                  </a:txBody>
                  <a:tcPr marL="137160" marR="137160" marT="54864" marB="54864" anchor="ctr">
                    <a:lnL>
                      <a:noFill/>
                    </a:lnL>
                    <a:lnR>
                      <a:noFill/>
                    </a:lnR>
                    <a:lnT w="19050" cap="flat" cmpd="sng" algn="ctr">
                      <a:solidFill>
                        <a:srgbClr val="1445A8"/>
                      </a:solidFill>
                      <a:prstDash val="solid"/>
                      <a:round/>
                      <a:headEnd type="none" w="med" len="med"/>
                      <a:tailEnd type="none" w="med" len="med"/>
                    </a:lnT>
                    <a:lnB w="9525" cap="flat">
                      <a:solidFill>
                        <a:srgbClr val="E3E5EC"/>
                      </a:solidFill>
                    </a:lnB>
                    <a:noFill/>
                  </a:tcPr>
                </a:tc>
                <a:extLst>
                  <a:ext uri="{0D108BD9-81ED-4DB2-BD59-A6C34878D82A}">
                    <a16:rowId xmlns:a16="http://schemas.microsoft.com/office/drawing/2014/main" val="133812526"/>
                  </a:ext>
                </a:extLst>
              </a:tr>
              <a:tr h="620000">
                <a:tc>
                  <a:txBody>
                    <a:bodyPr/>
                    <a:lstStyle/>
                    <a:p>
                      <a:pPr algn="l"/>
                      <a:r>
                        <a:rPr lang="en-US" sz="1400" b="1"/>
                        <a:t>Deployment method</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tc>
                  <a:txBody>
                    <a:bodyPr/>
                    <a:lstStyle/>
                    <a:p>
                      <a:pPr algn="l"/>
                      <a:r>
                        <a:rPr lang="en-US" sz="1400"/>
                        <a:t>Declarative manifests</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tc>
                  <a:txBody>
                    <a:bodyPr/>
                    <a:lstStyle/>
                    <a:p>
                      <a:pPr algn="l"/>
                      <a:r>
                        <a:rPr lang="en-US" sz="1400"/>
                        <a:t>Repeatable, versioned, a concrete artifact to walk through on screen</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tc>
                  <a:txBody>
                    <a:bodyPr/>
                    <a:lstStyle/>
                    <a:p>
                      <a:pPr algn="l"/>
                      <a:r>
                        <a:rPr lang="en-US" sz="1400"/>
                        <a:t>Imperative </a:t>
                      </a:r>
                      <a:r>
                        <a:rPr lang="en-US" sz="1300">
                          <a:latin typeface="Consolas"/>
                        </a:rPr>
                        <a:t>kubectl create</a:t>
                      </a:r>
                      <a:r>
                        <a:rPr lang="en-US" sz="1400"/>
                        <a:t>/</a:t>
                      </a:r>
                      <a:r>
                        <a:rPr lang="en-US" sz="1300">
                          <a:latin typeface="Consolas"/>
                        </a:rPr>
                        <a:t>expose</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extLst>
                  <a:ext uri="{0D108BD9-81ED-4DB2-BD59-A6C34878D82A}">
                    <a16:rowId xmlns:a16="http://schemas.microsoft.com/office/drawing/2014/main" val="2080364689"/>
                  </a:ext>
                </a:extLst>
              </a:tr>
              <a:tr h="620000">
                <a:tc>
                  <a:txBody>
                    <a:bodyPr/>
                    <a:lstStyle/>
                    <a:p>
                      <a:pPr algn="l"/>
                      <a:r>
                        <a:rPr lang="en-US" sz="1400" b="1" dirty="0"/>
                        <a:t>Infrastructure Provisioning</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tc>
                  <a:txBody>
                    <a:bodyPr/>
                    <a:lstStyle/>
                    <a:p>
                      <a:pPr algn="l"/>
                      <a:r>
                        <a:rPr lang="en-US" sz="1300">
                          <a:latin typeface="Consolas"/>
                        </a:rPr>
                        <a:t>eksctl</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tc>
                  <a:txBody>
                    <a:bodyPr/>
                    <a:lstStyle/>
                    <a:p>
                      <a:pPr algn="l"/>
                      <a:r>
                        <a:rPr lang="en-US" sz="1400" dirty="0"/>
                        <a:t>Single-command bring-up, no state file to manage for a lab rebuilt each session</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tc>
                  <a:txBody>
                    <a:bodyPr/>
                    <a:lstStyle/>
                    <a:p>
                      <a:pPr algn="l"/>
                      <a:r>
                        <a:rPr lang="en-US" sz="1400" dirty="0"/>
                        <a:t>Terraform: the more enterprise-preferred </a:t>
                      </a:r>
                      <a:r>
                        <a:rPr lang="en-US" sz="1400" dirty="0" err="1"/>
                        <a:t>IaC</a:t>
                      </a:r>
                      <a:r>
                        <a:rPr lang="en-US" sz="1400" dirty="0"/>
                        <a:t> method, but </a:t>
                      </a:r>
                      <a:r>
                        <a:rPr lang="en-US" sz="1300" dirty="0" err="1">
                          <a:latin typeface="Consolas"/>
                        </a:rPr>
                        <a:t>eksctl</a:t>
                      </a:r>
                      <a:r>
                        <a:rPr lang="en-US" sz="1400" dirty="0"/>
                        <a:t> is purpose-built for EKS cluster management</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extLst>
                  <a:ext uri="{0D108BD9-81ED-4DB2-BD59-A6C34878D82A}">
                    <a16:rowId xmlns:a16="http://schemas.microsoft.com/office/drawing/2014/main" val="3015111084"/>
                  </a:ext>
                </a:extLst>
              </a:tr>
              <a:tr h="620000">
                <a:tc>
                  <a:txBody>
                    <a:bodyPr/>
                    <a:lstStyle/>
                    <a:p>
                      <a:pPr algn="l"/>
                      <a:r>
                        <a:rPr lang="en-US" sz="1400" b="1" dirty="0"/>
                        <a:t>Node Size</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tc>
                  <a:txBody>
                    <a:bodyPr/>
                    <a:lstStyle/>
                    <a:p>
                      <a:pPr algn="l"/>
                      <a:r>
                        <a:rPr lang="en-US" sz="1300">
                          <a:latin typeface="Consolas"/>
                        </a:rPr>
                        <a:t>t3.small</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tc>
                  <a:txBody>
                    <a:bodyPr/>
                    <a:lstStyle/>
                    <a:p>
                      <a:pPr algn="l"/>
                      <a:r>
                        <a:rPr lang="en-US" sz="1400"/>
                        <a:t>Right-sized to the workload; fixed-rate costs (control plane, NAT, LB) dominate, not node size</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tc>
                  <a:txBody>
                    <a:bodyPr/>
                    <a:lstStyle/>
                    <a:p>
                      <a:pPr algn="l"/>
                      <a:r>
                        <a:rPr lang="en-US" sz="1300" dirty="0">
                          <a:latin typeface="Consolas"/>
                        </a:rPr>
                        <a:t>t3.medium</a:t>
                      </a:r>
                      <a:r>
                        <a:rPr lang="en-US" sz="1400" dirty="0"/>
                        <a:t> likely overkill, and  </a:t>
                      </a:r>
                      <a:r>
                        <a:rPr lang="en-US" sz="1300" dirty="0">
                          <a:latin typeface="Consolas"/>
                        </a:rPr>
                        <a:t>t3.micro </a:t>
                      </a:r>
                      <a:r>
                        <a:rPr lang="en-US" sz="1400" dirty="0">
                          <a:latin typeface="+mn-lt"/>
                        </a:rPr>
                        <a:t>would struggle.</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w="9525" cap="flat">
                      <a:solidFill>
                        <a:srgbClr val="E3E5EC"/>
                      </a:solidFill>
                    </a:lnB>
                    <a:noFill/>
                  </a:tcPr>
                </a:tc>
                <a:extLst>
                  <a:ext uri="{0D108BD9-81ED-4DB2-BD59-A6C34878D82A}">
                    <a16:rowId xmlns:a16="http://schemas.microsoft.com/office/drawing/2014/main" val="992935098"/>
                  </a:ext>
                </a:extLst>
              </a:tr>
              <a:tr h="620000">
                <a:tc>
                  <a:txBody>
                    <a:bodyPr/>
                    <a:lstStyle/>
                    <a:p>
                      <a:pPr algn="l"/>
                      <a:r>
                        <a:rPr lang="en-US" sz="1400" b="1"/>
                        <a:t>NAT Gateway</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a:noFill/>
                    </a:lnB>
                    <a:noFill/>
                  </a:tcPr>
                </a:tc>
                <a:tc>
                  <a:txBody>
                    <a:bodyPr/>
                    <a:lstStyle/>
                    <a:p>
                      <a:pPr algn="l"/>
                      <a:r>
                        <a:rPr lang="en-US" sz="1300">
                          <a:latin typeface="Consolas"/>
                        </a:rPr>
                        <a:t>Single</a:t>
                      </a:r>
                      <a:r>
                        <a:rPr lang="en-US" sz="1400"/>
                        <a:t> NAT</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a:noFill/>
                    </a:lnB>
                    <a:noFill/>
                  </a:tcPr>
                </a:tc>
                <a:tc>
                  <a:txBody>
                    <a:bodyPr/>
                    <a:lstStyle/>
                    <a:p>
                      <a:pPr algn="l"/>
                      <a:r>
                        <a:rPr lang="en-US" sz="1400"/>
                        <a:t>Halves a fixed idle-cost line; inbound ALB traffic never routes through NAT</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a:noFill/>
                    </a:lnB>
                    <a:noFill/>
                  </a:tcPr>
                </a:tc>
                <a:tc>
                  <a:txBody>
                    <a:bodyPr/>
                    <a:lstStyle/>
                    <a:p>
                      <a:pPr algn="l"/>
                      <a:r>
                        <a:rPr lang="en-US" sz="1300" dirty="0" err="1">
                          <a:latin typeface="Consolas"/>
                        </a:rPr>
                        <a:t>HighlyAvailable</a:t>
                      </a:r>
                      <a:r>
                        <a:rPr lang="en-US" sz="1400" dirty="0"/>
                        <a:t> (per-AZ)</a:t>
                      </a:r>
                    </a:p>
                  </a:txBody>
                  <a:tcPr marL="137160" marR="137160" marT="54864" marB="54864" anchor="ctr">
                    <a:lnL>
                      <a:noFill/>
                    </a:lnL>
                    <a:lnR>
                      <a:noFill/>
                    </a:lnR>
                    <a:lnT w="9525" cap="flat" cmpd="sng" algn="ctr">
                      <a:solidFill>
                        <a:srgbClr val="E3E5EC"/>
                      </a:solidFill>
                      <a:prstDash val="solid"/>
                      <a:round/>
                      <a:headEnd type="none" w="med" len="med"/>
                      <a:tailEnd type="none" w="med" len="med"/>
                    </a:lnT>
                    <a:lnB>
                      <a:noFill/>
                    </a:lnB>
                    <a:noFill/>
                  </a:tcPr>
                </a:tc>
                <a:extLst>
                  <a:ext uri="{0D108BD9-81ED-4DB2-BD59-A6C34878D82A}">
                    <a16:rowId xmlns:a16="http://schemas.microsoft.com/office/drawing/2014/main" val="3662963416"/>
                  </a:ext>
                </a:extLst>
              </a:tr>
            </a:tbl>
          </a:graphicData>
        </a:graphic>
      </p:graphicFrame>
    </p:spTree>
    <p:extLst>
      <p:ext uri="{BB962C8B-B14F-4D97-AF65-F5344CB8AC3E}">
        <p14:creationId xmlns:p14="http://schemas.microsoft.com/office/powerpoint/2010/main" val="2147078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99B02-3556-8476-0234-53CEDC4DE17F}"/>
              </a:ext>
            </a:extLst>
          </p:cNvPr>
          <p:cNvSpPr>
            <a:spLocks noGrp="1"/>
          </p:cNvSpPr>
          <p:nvPr>
            <p:ph type="title"/>
          </p:nvPr>
        </p:nvSpPr>
        <p:spPr/>
        <p:txBody>
          <a:bodyPr/>
          <a:lstStyle/>
          <a:p>
            <a:r>
              <a:rPr lang="en-US"/>
              <a:t>Deployment</a:t>
            </a:r>
          </a:p>
        </p:txBody>
      </p:sp>
      <p:sp>
        <p:nvSpPr>
          <p:cNvPr id="200" name="Step1"/>
          <p:cNvSpPr/>
          <p:nvPr/>
        </p:nvSpPr>
        <p:spPr>
          <a:xfrm>
            <a:off x="1092200" y="2032000"/>
            <a:ext cx="1879600" cy="2413000"/>
          </a:xfrm>
          <a:prstGeom prst="roundRect">
            <a:avLst>
              <a:gd name="adj" fmla="val 6000"/>
            </a:avLst>
          </a:prstGeom>
          <a:solidFill>
            <a:srgbClr val="EEF3FC"/>
          </a:solidFill>
          <a:ln w="9525">
            <a:solidFill>
              <a:srgbClr val="1863DC"/>
            </a:solidFill>
          </a:ln>
        </p:spPr>
        <p:txBody>
          <a:bodyPr wrap="square" tIns="381000" anchor="t">
            <a:normAutofit/>
          </a:bodyPr>
          <a:lstStyle/>
          <a:p>
            <a:pPr algn="ctr"/>
            <a:r>
              <a:rPr lang="en-US" sz="2400" b="1" dirty="0">
                <a:solidFill>
                  <a:srgbClr val="1863DC"/>
                </a:solidFill>
              </a:rPr>
              <a:t>1</a:t>
            </a:r>
          </a:p>
          <a:p>
            <a:pPr algn="ctr">
              <a:spcBef>
                <a:spcPts val="400"/>
              </a:spcBef>
            </a:pPr>
            <a:r>
              <a:rPr lang="en-US" sz="1400" b="1" dirty="0"/>
              <a:t>Provision Cluster</a:t>
            </a:r>
          </a:p>
          <a:p>
            <a:pPr algn="ctr">
              <a:spcBef>
                <a:spcPts val="400"/>
              </a:spcBef>
            </a:pPr>
            <a:r>
              <a:rPr lang="en-US" sz="1300" dirty="0">
                <a:latin typeface="Consolas"/>
              </a:rPr>
              <a:t>eksctl create cluster</a:t>
            </a:r>
            <a:r>
              <a:rPr lang="en-US" sz="1400" dirty="0"/>
              <a:t> (EKS 1.36)</a:t>
            </a:r>
          </a:p>
        </p:txBody>
      </p:sp>
      <p:sp>
        <p:nvSpPr>
          <p:cNvPr id="300" name="Arrow1"/>
          <p:cNvSpPr/>
          <p:nvPr/>
        </p:nvSpPr>
        <p:spPr>
          <a:xfrm>
            <a:off x="2971800" y="3048000"/>
            <a:ext cx="152400" cy="381000"/>
          </a:xfrm>
          <a:prstGeom prst="rect">
            <a:avLst/>
          </a:prstGeom>
          <a:noFill/>
          <a:ln>
            <a:noFill/>
          </a:ln>
        </p:spPr>
        <p:txBody>
          <a:bodyPr wrap="none" anchor="ctr"/>
          <a:lstStyle/>
          <a:p>
            <a:pPr algn="ctr"/>
            <a:r>
              <a:rPr lang="en-US" sz="1600" b="1" dirty="0">
                <a:solidFill>
                  <a:srgbClr val="3451D7"/>
                </a:solidFill>
              </a:rPr>
              <a:t>→</a:t>
            </a:r>
          </a:p>
        </p:txBody>
      </p:sp>
      <p:sp>
        <p:nvSpPr>
          <p:cNvPr id="201" name="Step2"/>
          <p:cNvSpPr/>
          <p:nvPr/>
        </p:nvSpPr>
        <p:spPr>
          <a:xfrm>
            <a:off x="3124200" y="2032000"/>
            <a:ext cx="1879600" cy="2413000"/>
          </a:xfrm>
          <a:prstGeom prst="roundRect">
            <a:avLst>
              <a:gd name="adj" fmla="val 6000"/>
            </a:avLst>
          </a:prstGeom>
          <a:solidFill>
            <a:srgbClr val="F0F1FC"/>
          </a:solidFill>
          <a:ln w="9525">
            <a:solidFill>
              <a:srgbClr val="3451D7"/>
            </a:solidFill>
          </a:ln>
        </p:spPr>
        <p:txBody>
          <a:bodyPr wrap="square" tIns="381000" anchor="t">
            <a:normAutofit/>
          </a:bodyPr>
          <a:lstStyle/>
          <a:p>
            <a:pPr algn="ctr"/>
            <a:r>
              <a:rPr lang="en-US" sz="2400" b="1" dirty="0">
                <a:solidFill>
                  <a:srgbClr val="3451D7"/>
                </a:solidFill>
              </a:rPr>
              <a:t>2</a:t>
            </a:r>
          </a:p>
          <a:p>
            <a:pPr algn="ctr">
              <a:spcBef>
                <a:spcPts val="400"/>
              </a:spcBef>
            </a:pPr>
            <a:r>
              <a:rPr lang="en-US" sz="1400" b="1" dirty="0"/>
              <a:t>Gateway API CRDs</a:t>
            </a:r>
          </a:p>
          <a:p>
            <a:pPr algn="ctr">
              <a:spcBef>
                <a:spcPts val="400"/>
              </a:spcBef>
            </a:pPr>
            <a:r>
              <a:rPr lang="en-US" sz="1400" dirty="0"/>
              <a:t>Installed before the controller</a:t>
            </a:r>
          </a:p>
        </p:txBody>
      </p:sp>
      <p:sp>
        <p:nvSpPr>
          <p:cNvPr id="301" name="Arrow2"/>
          <p:cNvSpPr/>
          <p:nvPr/>
        </p:nvSpPr>
        <p:spPr>
          <a:xfrm>
            <a:off x="5003800" y="3048000"/>
            <a:ext cx="152400" cy="381000"/>
          </a:xfrm>
          <a:prstGeom prst="rect">
            <a:avLst/>
          </a:prstGeom>
          <a:noFill/>
          <a:ln>
            <a:noFill/>
          </a:ln>
        </p:spPr>
        <p:txBody>
          <a:bodyPr wrap="none" anchor="ctr"/>
          <a:lstStyle/>
          <a:p>
            <a:pPr algn="ctr"/>
            <a:r>
              <a:rPr lang="en-US" sz="1600" b="1" dirty="0">
                <a:solidFill>
                  <a:srgbClr val="513FD2"/>
                </a:solidFill>
              </a:rPr>
              <a:t>→</a:t>
            </a:r>
          </a:p>
        </p:txBody>
      </p:sp>
      <p:sp>
        <p:nvSpPr>
          <p:cNvPr id="202" name="Step3"/>
          <p:cNvSpPr/>
          <p:nvPr/>
        </p:nvSpPr>
        <p:spPr>
          <a:xfrm>
            <a:off x="5156200" y="2032000"/>
            <a:ext cx="1879600" cy="2413000"/>
          </a:xfrm>
          <a:prstGeom prst="roundRect">
            <a:avLst>
              <a:gd name="adj" fmla="val 6000"/>
            </a:avLst>
          </a:prstGeom>
          <a:solidFill>
            <a:srgbClr val="F2F0FC"/>
          </a:solidFill>
          <a:ln w="9525">
            <a:solidFill>
              <a:srgbClr val="513FD2"/>
            </a:solidFill>
          </a:ln>
        </p:spPr>
        <p:txBody>
          <a:bodyPr wrap="square" tIns="381000" anchor="t">
            <a:normAutofit/>
          </a:bodyPr>
          <a:lstStyle/>
          <a:p>
            <a:pPr algn="ctr"/>
            <a:r>
              <a:rPr lang="en-US" sz="2400" b="1" dirty="0">
                <a:solidFill>
                  <a:srgbClr val="513FD2"/>
                </a:solidFill>
              </a:rPr>
              <a:t>3</a:t>
            </a:r>
          </a:p>
          <a:p>
            <a:pPr algn="ctr">
              <a:spcBef>
                <a:spcPts val="400"/>
              </a:spcBef>
            </a:pPr>
            <a:r>
              <a:rPr lang="en-US" sz="1400" b="1" dirty="0"/>
              <a:t>AWS LBC</a:t>
            </a:r>
          </a:p>
          <a:p>
            <a:pPr algn="ctr">
              <a:spcBef>
                <a:spcPts val="400"/>
              </a:spcBef>
            </a:pPr>
            <a:r>
              <a:rPr lang="en-US" sz="1400" dirty="0"/>
              <a:t>Helm + IRSA, wait for rollout</a:t>
            </a:r>
          </a:p>
        </p:txBody>
      </p:sp>
      <p:sp>
        <p:nvSpPr>
          <p:cNvPr id="302" name="Arrow3"/>
          <p:cNvSpPr/>
          <p:nvPr/>
        </p:nvSpPr>
        <p:spPr>
          <a:xfrm>
            <a:off x="7035800" y="3048000"/>
            <a:ext cx="152400" cy="381000"/>
          </a:xfrm>
          <a:prstGeom prst="rect">
            <a:avLst/>
          </a:prstGeom>
          <a:noFill/>
          <a:ln>
            <a:noFill/>
          </a:ln>
        </p:spPr>
        <p:txBody>
          <a:bodyPr wrap="none" anchor="ctr"/>
          <a:lstStyle/>
          <a:p>
            <a:pPr algn="ctr"/>
            <a:r>
              <a:rPr lang="en-US" sz="1600" b="1" dirty="0">
                <a:solidFill>
                  <a:srgbClr val="6D2DCC"/>
                </a:solidFill>
              </a:rPr>
              <a:t>→</a:t>
            </a:r>
          </a:p>
        </p:txBody>
      </p:sp>
      <p:sp>
        <p:nvSpPr>
          <p:cNvPr id="203" name="Step4"/>
          <p:cNvSpPr/>
          <p:nvPr/>
        </p:nvSpPr>
        <p:spPr>
          <a:xfrm>
            <a:off x="7188200" y="2032000"/>
            <a:ext cx="1879600" cy="2413000"/>
          </a:xfrm>
          <a:prstGeom prst="roundRect">
            <a:avLst>
              <a:gd name="adj" fmla="val 6000"/>
            </a:avLst>
          </a:prstGeom>
          <a:solidFill>
            <a:srgbClr val="F3EEFB"/>
          </a:solidFill>
          <a:ln w="9525">
            <a:solidFill>
              <a:srgbClr val="6D2DCC"/>
            </a:solidFill>
          </a:ln>
        </p:spPr>
        <p:txBody>
          <a:bodyPr wrap="square" tIns="381000" anchor="t">
            <a:normAutofit/>
          </a:bodyPr>
          <a:lstStyle/>
          <a:p>
            <a:pPr algn="ctr"/>
            <a:r>
              <a:rPr lang="en-US" sz="2400" b="1" dirty="0">
                <a:solidFill>
                  <a:srgbClr val="6D2DCC"/>
                </a:solidFill>
              </a:rPr>
              <a:t>4</a:t>
            </a:r>
          </a:p>
          <a:p>
            <a:pPr algn="ctr">
              <a:spcBef>
                <a:spcPts val="400"/>
              </a:spcBef>
            </a:pPr>
            <a:r>
              <a:rPr lang="en-US" sz="1400" b="1" dirty="0"/>
              <a:t>Falco</a:t>
            </a:r>
          </a:p>
          <a:p>
            <a:pPr algn="ctr">
              <a:spcBef>
                <a:spcPts val="400"/>
              </a:spcBef>
            </a:pPr>
            <a:r>
              <a:rPr lang="en-US" sz="1400" dirty="0"/>
              <a:t>Helm, running before the demos</a:t>
            </a:r>
          </a:p>
        </p:txBody>
      </p:sp>
      <p:sp>
        <p:nvSpPr>
          <p:cNvPr id="303" name="Arrow4"/>
          <p:cNvSpPr/>
          <p:nvPr/>
        </p:nvSpPr>
        <p:spPr>
          <a:xfrm>
            <a:off x="9067800" y="3048000"/>
            <a:ext cx="152400" cy="381000"/>
          </a:xfrm>
          <a:prstGeom prst="rect">
            <a:avLst/>
          </a:prstGeom>
          <a:noFill/>
          <a:ln>
            <a:noFill/>
          </a:ln>
        </p:spPr>
        <p:txBody>
          <a:bodyPr wrap="none" anchor="ctr"/>
          <a:lstStyle/>
          <a:p>
            <a:pPr algn="ctr"/>
            <a:r>
              <a:rPr lang="en-US" sz="1600" b="1" dirty="0">
                <a:solidFill>
                  <a:srgbClr val="7D24CC"/>
                </a:solidFill>
              </a:rPr>
              <a:t>→</a:t>
            </a:r>
          </a:p>
        </p:txBody>
      </p:sp>
      <p:sp>
        <p:nvSpPr>
          <p:cNvPr id="204" name="Step5"/>
          <p:cNvSpPr/>
          <p:nvPr/>
        </p:nvSpPr>
        <p:spPr>
          <a:xfrm>
            <a:off x="9220200" y="2032000"/>
            <a:ext cx="1879600" cy="2413000"/>
          </a:xfrm>
          <a:prstGeom prst="roundRect">
            <a:avLst>
              <a:gd name="adj" fmla="val 6000"/>
            </a:avLst>
          </a:prstGeom>
          <a:solidFill>
            <a:srgbClr val="F5ECFB"/>
          </a:solidFill>
          <a:ln w="9525">
            <a:solidFill>
              <a:srgbClr val="891BC7"/>
            </a:solidFill>
          </a:ln>
        </p:spPr>
        <p:txBody>
          <a:bodyPr wrap="square" tIns="381000" anchor="t">
            <a:normAutofit/>
          </a:bodyPr>
          <a:lstStyle/>
          <a:p>
            <a:pPr algn="ctr"/>
            <a:r>
              <a:rPr lang="en-US" sz="2400" b="1" dirty="0">
                <a:solidFill>
                  <a:srgbClr val="891BC7"/>
                </a:solidFill>
              </a:rPr>
              <a:t>5</a:t>
            </a:r>
          </a:p>
          <a:p>
            <a:pPr algn="ctr">
              <a:spcBef>
                <a:spcPts val="400"/>
              </a:spcBef>
            </a:pPr>
            <a:r>
              <a:rPr lang="en-US" sz="1400" b="1" dirty="0"/>
              <a:t>Deploy App</a:t>
            </a:r>
          </a:p>
          <a:p>
            <a:pPr algn="ctr">
              <a:spcBef>
                <a:spcPts val="400"/>
              </a:spcBef>
            </a:pPr>
            <a:r>
              <a:rPr lang="en-US" sz="1300" dirty="0">
                <a:latin typeface="Consolas"/>
              </a:rPr>
              <a:t>kubectl apply -f manifests/</a:t>
            </a:r>
          </a:p>
        </p:txBody>
      </p:sp>
      <p:sp>
        <p:nvSpPr>
          <p:cNvPr id="400" name="DeployNote"/>
          <p:cNvSpPr/>
          <p:nvPr/>
        </p:nvSpPr>
        <p:spPr>
          <a:xfrm>
            <a:off x="838200" y="4635500"/>
            <a:ext cx="10515600" cy="381000"/>
          </a:xfrm>
          <a:prstGeom prst="rect">
            <a:avLst/>
          </a:prstGeom>
          <a:noFill/>
          <a:ln>
            <a:noFill/>
          </a:ln>
        </p:spPr>
        <p:txBody>
          <a:bodyPr wrap="square" anchor="t"/>
          <a:lstStyle/>
          <a:p>
            <a:pPr algn="ctr"/>
            <a:r>
              <a:rPr lang="en-US" sz="1600" i="1" dirty="0"/>
              <a:t>Wrapped end-to-end by </a:t>
            </a:r>
            <a:r>
              <a:rPr lang="en-US" sz="1500" i="1" dirty="0">
                <a:latin typeface="Consolas"/>
              </a:rPr>
              <a:t>scripts/bootstrap.sh</a:t>
            </a:r>
            <a:r>
              <a:rPr lang="en-US" sz="1600" i="1" dirty="0"/>
              <a:t> and </a:t>
            </a:r>
            <a:r>
              <a:rPr lang="en-US" sz="1500" i="1" dirty="0">
                <a:latin typeface="Consolas"/>
              </a:rPr>
              <a:t>scripts/teardown.sh</a:t>
            </a:r>
          </a:p>
        </p:txBody>
      </p:sp>
      <p:sp>
        <p:nvSpPr>
          <p:cNvPr id="401" name="DeployCaption"/>
          <p:cNvSpPr/>
          <p:nvPr/>
        </p:nvSpPr>
        <p:spPr>
          <a:xfrm>
            <a:off x="838200" y="6565900"/>
            <a:ext cx="9525000" cy="254000"/>
          </a:xfrm>
          <a:prstGeom prst="rect">
            <a:avLst/>
          </a:prstGeom>
          <a:noFill/>
          <a:ln>
            <a:noFill/>
          </a:ln>
        </p:spPr>
        <p:txBody>
          <a:bodyPr wrap="square" anchor="t"/>
          <a:lstStyle/>
          <a:p>
            <a:pPr algn="l"/>
            <a:r>
              <a:rPr lang="en-US" sz="1400" i="1" dirty="0">
                <a:solidFill>
                  <a:srgbClr val="8A93A6"/>
                </a:solidFill>
              </a:rPr>
              <a:t>Full manifests, diagrams &amp; scripts: </a:t>
            </a:r>
            <a:r>
              <a:rPr lang="en-US" sz="1300" i="1" dirty="0">
                <a:solidFill>
                  <a:srgbClr val="8A93A6"/>
                </a:solidFill>
                <a:latin typeface="Consolas"/>
              </a:rPr>
              <a:t>github.com/economycomfort/upwind-sa-lab</a:t>
            </a:r>
          </a:p>
        </p:txBody>
      </p:sp>
      <p:pic>
        <p:nvPicPr>
          <p:cNvPr id="402" name="Graphic 402" descr="Cluster provisioni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854200" y="2184400"/>
            <a:ext cx="355600" cy="355600"/>
          </a:xfrm>
          <a:prstGeom prst="rect">
            <a:avLst/>
          </a:prstGeom>
        </p:spPr>
      </p:pic>
      <p:pic>
        <p:nvPicPr>
          <p:cNvPr id="403" name="Graphic 403" descr="Gateway API CRD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6200" y="2184400"/>
            <a:ext cx="355600" cy="355600"/>
          </a:xfrm>
          <a:prstGeom prst="rect">
            <a:avLst/>
          </a:prstGeom>
        </p:spPr>
      </p:pic>
      <p:pic>
        <p:nvPicPr>
          <p:cNvPr id="404" name="Graphic 404" descr="AWS Load Balancer Controlle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18200" y="2184400"/>
            <a:ext cx="355600" cy="355600"/>
          </a:xfrm>
          <a:prstGeom prst="rect">
            <a:avLst/>
          </a:prstGeom>
        </p:spPr>
      </p:pic>
      <p:pic>
        <p:nvPicPr>
          <p:cNvPr id="405" name="Graphic 405" descr="Falco runtime detecti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50200" y="2184400"/>
            <a:ext cx="355600" cy="355600"/>
          </a:xfrm>
          <a:prstGeom prst="rect">
            <a:avLst/>
          </a:prstGeom>
        </p:spPr>
      </p:pic>
      <p:pic>
        <p:nvPicPr>
          <p:cNvPr id="406" name="Graphic 406" descr="Deploy app"/>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82200" y="2184400"/>
            <a:ext cx="355600" cy="355600"/>
          </a:xfrm>
          <a:prstGeom prst="rect">
            <a:avLst/>
          </a:prstGeom>
        </p:spPr>
      </p:pic>
      <p:pic>
        <p:nvPicPr>
          <p:cNvPr id="4" name="Picture 3">
            <a:extLst>
              <a:ext uri="{FF2B5EF4-FFF2-40B4-BE49-F238E27FC236}">
                <a16:creationId xmlns:a16="http://schemas.microsoft.com/office/drawing/2014/main" id="{551B3BFF-1BAB-410E-8091-4AC2E553066C}"/>
              </a:ext>
            </a:extLst>
          </p:cNvPr>
          <p:cNvPicPr>
            <a:picLocks noChangeAspect="1"/>
          </p:cNvPicPr>
          <p:nvPr/>
        </p:nvPicPr>
        <p:blipFill>
          <a:blip r:embed="rId7"/>
          <a:stretch>
            <a:fillRect/>
          </a:stretch>
        </p:blipFill>
        <p:spPr>
          <a:xfrm>
            <a:off x="6705600" y="4102608"/>
            <a:ext cx="292608" cy="292608"/>
          </a:xfrm>
          <a:prstGeom prst="rect">
            <a:avLst/>
          </a:prstGeom>
        </p:spPr>
      </p:pic>
      <p:pic>
        <p:nvPicPr>
          <p:cNvPr id="6" name="Picture 5">
            <a:extLst>
              <a:ext uri="{FF2B5EF4-FFF2-40B4-BE49-F238E27FC236}">
                <a16:creationId xmlns:a16="http://schemas.microsoft.com/office/drawing/2014/main" id="{A3921DCA-40FE-DB5D-6256-21EDF5C453AF}"/>
              </a:ext>
            </a:extLst>
          </p:cNvPr>
          <p:cNvPicPr>
            <a:picLocks noChangeAspect="1"/>
          </p:cNvPicPr>
          <p:nvPr/>
        </p:nvPicPr>
        <p:blipFill>
          <a:blip r:embed="rId8"/>
          <a:stretch>
            <a:fillRect/>
          </a:stretch>
        </p:blipFill>
        <p:spPr>
          <a:xfrm>
            <a:off x="4673600" y="4102608"/>
            <a:ext cx="292608" cy="292608"/>
          </a:xfrm>
          <a:prstGeom prst="rect">
            <a:avLst/>
          </a:prstGeom>
        </p:spPr>
      </p:pic>
      <p:pic>
        <p:nvPicPr>
          <p:cNvPr id="8" name="Picture 7">
            <a:extLst>
              <a:ext uri="{FF2B5EF4-FFF2-40B4-BE49-F238E27FC236}">
                <a16:creationId xmlns:a16="http://schemas.microsoft.com/office/drawing/2014/main" id="{AA3CEEBA-1610-2E0A-5863-4E5C295237B2}"/>
              </a:ext>
            </a:extLst>
          </p:cNvPr>
          <p:cNvPicPr>
            <a:picLocks noChangeAspect="1"/>
          </p:cNvPicPr>
          <p:nvPr/>
        </p:nvPicPr>
        <p:blipFill>
          <a:blip r:embed="rId9"/>
          <a:stretch>
            <a:fillRect/>
          </a:stretch>
        </p:blipFill>
        <p:spPr>
          <a:xfrm>
            <a:off x="2641600" y="4102608"/>
            <a:ext cx="292608" cy="292608"/>
          </a:xfrm>
          <a:prstGeom prst="rect">
            <a:avLst/>
          </a:prstGeom>
        </p:spPr>
      </p:pic>
      <p:pic>
        <p:nvPicPr>
          <p:cNvPr id="10" name="Picture 9">
            <a:extLst>
              <a:ext uri="{FF2B5EF4-FFF2-40B4-BE49-F238E27FC236}">
                <a16:creationId xmlns:a16="http://schemas.microsoft.com/office/drawing/2014/main" id="{7ECCACAC-0785-219A-1B24-1ED6C9CB8CE8}"/>
              </a:ext>
            </a:extLst>
          </p:cNvPr>
          <p:cNvPicPr>
            <a:picLocks noChangeAspect="1"/>
          </p:cNvPicPr>
          <p:nvPr/>
        </p:nvPicPr>
        <p:blipFill>
          <a:blip r:embed="rId10"/>
          <a:stretch>
            <a:fillRect/>
          </a:stretch>
        </p:blipFill>
        <p:spPr>
          <a:xfrm>
            <a:off x="10745724" y="4025392"/>
            <a:ext cx="317500" cy="381000"/>
          </a:xfrm>
          <a:prstGeom prst="rect">
            <a:avLst/>
          </a:prstGeom>
        </p:spPr>
      </p:pic>
      <p:pic>
        <p:nvPicPr>
          <p:cNvPr id="12" name="Picture 11">
            <a:extLst>
              <a:ext uri="{FF2B5EF4-FFF2-40B4-BE49-F238E27FC236}">
                <a16:creationId xmlns:a16="http://schemas.microsoft.com/office/drawing/2014/main" id="{9380700C-398F-3248-F209-B3DB9D44F3AC}"/>
              </a:ext>
            </a:extLst>
          </p:cNvPr>
          <p:cNvPicPr>
            <a:picLocks noChangeAspect="1"/>
          </p:cNvPicPr>
          <p:nvPr/>
        </p:nvPicPr>
        <p:blipFill>
          <a:blip r:embed="rId11"/>
          <a:stretch>
            <a:fillRect/>
          </a:stretch>
        </p:blipFill>
        <p:spPr>
          <a:xfrm>
            <a:off x="8752332" y="4126992"/>
            <a:ext cx="279400" cy="279400"/>
          </a:xfrm>
          <a:prstGeom prst="rect">
            <a:avLst/>
          </a:prstGeom>
        </p:spPr>
      </p:pic>
    </p:spTree>
    <p:extLst>
      <p:ext uri="{BB962C8B-B14F-4D97-AF65-F5344CB8AC3E}">
        <p14:creationId xmlns:p14="http://schemas.microsoft.com/office/powerpoint/2010/main" val="2395954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7BF4C-0645-44E7-4AA0-6E1824304594}"/>
              </a:ext>
            </a:extLst>
          </p:cNvPr>
          <p:cNvSpPr>
            <a:spLocks noGrp="1"/>
          </p:cNvSpPr>
          <p:nvPr>
            <p:ph type="title"/>
          </p:nvPr>
        </p:nvSpPr>
        <p:spPr/>
        <p:txBody>
          <a:bodyPr/>
          <a:lstStyle/>
          <a:p>
            <a:r>
              <a:rPr lang="en-US" dirty="0"/>
              <a:t>Exploitation Examples</a:t>
            </a:r>
          </a:p>
        </p:txBody>
      </p:sp>
      <p:sp>
        <p:nvSpPr>
          <p:cNvPr id="500" name="Slide Number Placeholder"/>
          <p:cNvSpPr>
            <a:spLocks noGrp="1"/>
          </p:cNvSpPr>
          <p:nvPr>
            <p:ph type="sldNum" sz="quarter" idx="12"/>
          </p:nvPr>
        </p:nvSpPr>
        <p:spPr/>
        <p:txBody>
          <a:bodyPr/>
          <a:lstStyle/>
          <a:p>
            <a:pPr algn="ctr"/>
            <a:fld id="{B33FD025-7F13-7547-89AF-6B9129FB7D4F}" type="slidenum">
              <a:rPr lang="en-US" sz="1400" b="1">
                <a:solidFill>
                  <a:srgbClr val="1863DC"/>
                </a:solidFill>
              </a:rPr>
              <a:t>7</a:t>
            </a:fld>
            <a:endParaRPr lang="en-US" sz="1400" b="1">
              <a:solidFill>
                <a:srgbClr val="1863DC"/>
              </a:solidFill>
            </a:endParaRPr>
          </a:p>
        </p:txBody>
      </p:sp>
      <p:sp>
        <p:nvSpPr>
          <p:cNvPr id="3" name="ExploitCard1"/>
          <p:cNvSpPr/>
          <p:nvPr/>
        </p:nvSpPr>
        <p:spPr>
          <a:xfrm>
            <a:off x="838200" y="1778000"/>
            <a:ext cx="3302000" cy="4318000"/>
          </a:xfrm>
          <a:prstGeom prst="roundRect">
            <a:avLst>
              <a:gd name="adj" fmla="val 4000"/>
            </a:avLst>
          </a:prstGeom>
          <a:solidFill>
            <a:srgbClr val="EEF3FC"/>
          </a:solidFill>
          <a:ln w="9525">
            <a:solidFill>
              <a:srgbClr val="1863DC"/>
            </a:solidFill>
          </a:ln>
        </p:spPr>
        <p:txBody>
          <a:bodyPr wrap="square" lIns="137160" tIns="647700" rIns="137160" anchor="t">
            <a:normAutofit/>
          </a:bodyPr>
          <a:lstStyle/>
          <a:p>
            <a:pPr algn="ctr"/>
            <a:r>
              <a:rPr lang="en-US" sz="1300" b="1" dirty="0">
                <a:solidFill>
                  <a:srgbClr val="1863DC"/>
                </a:solidFill>
              </a:rPr>
              <a:t>A01:2025 · Broken Access Control</a:t>
            </a:r>
          </a:p>
          <a:p>
            <a:pPr algn="ctr">
              <a:spcBef>
                <a:spcPts val="500"/>
              </a:spcBef>
            </a:pPr>
            <a:r>
              <a:rPr lang="en-US" sz="1800" b="1" dirty="0"/>
              <a:t>IDOR</a:t>
            </a:r>
          </a:p>
          <a:p>
            <a:pPr algn="l">
              <a:spcBef>
                <a:spcPts val="900"/>
              </a:spcBef>
            </a:pPr>
            <a:r>
              <a:rPr lang="en-US" sz="1400" b="1" dirty="0">
                <a:solidFill>
                  <a:srgbClr val="1863DC"/>
                </a:solidFill>
              </a:rPr>
              <a:t>What &amp; Why</a:t>
            </a:r>
          </a:p>
          <a:p>
            <a:pPr algn="l">
              <a:spcBef>
                <a:spcPts val="300"/>
              </a:spcBef>
            </a:pPr>
            <a:r>
              <a:rPr lang="en-US" sz="1400" dirty="0"/>
              <a:t>App trusts a client-supplied basket ID without verifying the requesting user owns it.</a:t>
            </a:r>
          </a:p>
          <a:p>
            <a:pPr algn="l">
              <a:spcBef>
                <a:spcPts val="700"/>
              </a:spcBef>
            </a:pPr>
            <a:r>
              <a:rPr lang="en-US" sz="1400" b="1" dirty="0">
                <a:solidFill>
                  <a:srgbClr val="1863DC"/>
                </a:solidFill>
              </a:rPr>
              <a:t>Attacker Gains</a:t>
            </a:r>
          </a:p>
          <a:p>
            <a:pPr algn="l">
              <a:spcBef>
                <a:spcPts val="300"/>
              </a:spcBef>
            </a:pPr>
            <a:r>
              <a:rPr lang="en-US" sz="1400" dirty="0"/>
              <a:t>Read another user's data: horizontal privilege escalation.</a:t>
            </a:r>
          </a:p>
        </p:txBody>
      </p:sp>
      <p:sp>
        <p:nvSpPr>
          <p:cNvPr id="501" name="ExploitCard2"/>
          <p:cNvSpPr/>
          <p:nvPr/>
        </p:nvSpPr>
        <p:spPr>
          <a:xfrm>
            <a:off x="4445000" y="1778000"/>
            <a:ext cx="3302000" cy="4318000"/>
          </a:xfrm>
          <a:prstGeom prst="roundRect">
            <a:avLst>
              <a:gd name="adj" fmla="val 4000"/>
            </a:avLst>
          </a:prstGeom>
          <a:solidFill>
            <a:srgbClr val="FEF5F2"/>
          </a:solidFill>
          <a:ln w="9525">
            <a:solidFill>
              <a:srgbClr val="FE977D"/>
            </a:solidFill>
          </a:ln>
        </p:spPr>
        <p:txBody>
          <a:bodyPr wrap="square" lIns="137160" tIns="647700" rIns="137160" anchor="t">
            <a:normAutofit/>
          </a:bodyPr>
          <a:lstStyle/>
          <a:p>
            <a:pPr algn="ctr"/>
            <a:r>
              <a:rPr lang="en-US" sz="1300" b="1" dirty="0">
                <a:solidFill>
                  <a:srgbClr val="FE977D"/>
                </a:solidFill>
              </a:rPr>
              <a:t>A05:2025 · Injection</a:t>
            </a:r>
          </a:p>
          <a:p>
            <a:pPr algn="ctr">
              <a:spcBef>
                <a:spcPts val="500"/>
              </a:spcBef>
            </a:pPr>
            <a:r>
              <a:rPr lang="en-US" sz="1800" b="1" dirty="0"/>
              <a:t>SQL Injection</a:t>
            </a:r>
          </a:p>
          <a:p>
            <a:pPr algn="l">
              <a:spcBef>
                <a:spcPts val="900"/>
              </a:spcBef>
            </a:pPr>
            <a:r>
              <a:rPr lang="en-US" sz="1400" b="1" dirty="0">
                <a:solidFill>
                  <a:srgbClr val="FE977D"/>
                </a:solidFill>
              </a:rPr>
              <a:t>What &amp; Why</a:t>
            </a:r>
          </a:p>
          <a:p>
            <a:pPr algn="l">
              <a:spcBef>
                <a:spcPts val="300"/>
              </a:spcBef>
            </a:pPr>
            <a:r>
              <a:rPr lang="en-US" sz="1400" dirty="0"/>
              <a:t>Login query concatenates user input directly into SQL instead of using parameterized queries.</a:t>
            </a:r>
          </a:p>
          <a:p>
            <a:pPr algn="l">
              <a:spcBef>
                <a:spcPts val="700"/>
              </a:spcBef>
            </a:pPr>
            <a:r>
              <a:rPr lang="en-US" sz="1400" b="1" dirty="0">
                <a:solidFill>
                  <a:srgbClr val="FE977D"/>
                </a:solidFill>
              </a:rPr>
              <a:t>Attacker Gains</a:t>
            </a:r>
          </a:p>
          <a:p>
            <a:pPr algn="l">
              <a:spcBef>
                <a:spcPts val="300"/>
              </a:spcBef>
            </a:pPr>
            <a:r>
              <a:rPr lang="en-US" sz="1400" dirty="0"/>
              <a:t>Full account takeover, no credentials required.</a:t>
            </a:r>
          </a:p>
        </p:txBody>
      </p:sp>
      <p:sp>
        <p:nvSpPr>
          <p:cNvPr id="502" name="ExploitCard3"/>
          <p:cNvSpPr/>
          <p:nvPr/>
        </p:nvSpPr>
        <p:spPr>
          <a:xfrm>
            <a:off x="8051800" y="1778000"/>
            <a:ext cx="3302000" cy="4318000"/>
          </a:xfrm>
          <a:prstGeom prst="roundRect">
            <a:avLst>
              <a:gd name="adj" fmla="val 4000"/>
            </a:avLst>
          </a:prstGeom>
          <a:solidFill>
            <a:srgbClr val="F5ECFB"/>
          </a:solidFill>
          <a:ln w="9525">
            <a:solidFill>
              <a:srgbClr val="891BC7"/>
            </a:solidFill>
          </a:ln>
        </p:spPr>
        <p:txBody>
          <a:bodyPr wrap="square" lIns="137160" tIns="647700" rIns="137160" anchor="t">
            <a:normAutofit/>
          </a:bodyPr>
          <a:lstStyle/>
          <a:p>
            <a:pPr algn="ctr"/>
            <a:r>
              <a:rPr lang="en-US" sz="1300" b="1" dirty="0">
                <a:solidFill>
                  <a:srgbClr val="891BC7"/>
                </a:solidFill>
              </a:rPr>
              <a:t>A02:2025 · Security Misconfiguration</a:t>
            </a:r>
          </a:p>
          <a:p>
            <a:pPr algn="ctr">
              <a:spcBef>
                <a:spcPts val="500"/>
              </a:spcBef>
            </a:pPr>
            <a:r>
              <a:rPr lang="en-US" sz="1800" b="1" dirty="0"/>
              <a:t>Exposed /ftp Directory</a:t>
            </a:r>
          </a:p>
          <a:p>
            <a:pPr algn="l">
              <a:spcBef>
                <a:spcPts val="900"/>
              </a:spcBef>
            </a:pPr>
            <a:r>
              <a:rPr lang="en-US" sz="1400" b="1" dirty="0">
                <a:solidFill>
                  <a:srgbClr val="891BC7"/>
                </a:solidFill>
              </a:rPr>
              <a:t>What &amp; Why</a:t>
            </a:r>
          </a:p>
          <a:p>
            <a:pPr algn="l">
              <a:spcBef>
                <a:spcPts val="300"/>
              </a:spcBef>
            </a:pPr>
            <a:r>
              <a:rPr lang="en-US" sz="1400" dirty="0"/>
              <a:t>A directory of files that were never meant to be public is exposed, no crafted payload needed.</a:t>
            </a:r>
          </a:p>
          <a:p>
            <a:pPr algn="l">
              <a:spcBef>
                <a:spcPts val="700"/>
              </a:spcBef>
            </a:pPr>
            <a:r>
              <a:rPr lang="en-US" sz="1400" b="1" dirty="0">
                <a:solidFill>
                  <a:srgbClr val="891BC7"/>
                </a:solidFill>
              </a:rPr>
              <a:t>Attacker Gains</a:t>
            </a:r>
          </a:p>
          <a:p>
            <a:pPr algn="l">
              <a:spcBef>
                <a:spcPts val="300"/>
              </a:spcBef>
            </a:pPr>
            <a:r>
              <a:rPr lang="en-US" sz="1400" dirty="0"/>
              <a:t>Information disclosure, a potential further foothold.</a:t>
            </a:r>
          </a:p>
        </p:txBody>
      </p:sp>
      <p:sp>
        <p:nvSpPr>
          <p:cNvPr id="503" name="ExploitNote"/>
          <p:cNvSpPr/>
          <p:nvPr/>
        </p:nvSpPr>
        <p:spPr>
          <a:xfrm>
            <a:off x="1041400" y="6183312"/>
            <a:ext cx="10515600" cy="304800"/>
          </a:xfrm>
          <a:prstGeom prst="rect">
            <a:avLst/>
          </a:prstGeom>
          <a:noFill/>
          <a:ln>
            <a:noFill/>
          </a:ln>
        </p:spPr>
        <p:txBody>
          <a:bodyPr wrap="square" anchor="t"/>
          <a:lstStyle/>
          <a:p>
            <a:pPr algn="ctr"/>
            <a:r>
              <a:rPr lang="en-US" sz="1500" i="1" dirty="0"/>
              <a:t>Live walkthrough for each: what it is, why it exists, how it's exploited, what an attacker gains</a:t>
            </a:r>
          </a:p>
        </p:txBody>
      </p:sp>
      <p:pic>
        <p:nvPicPr>
          <p:cNvPr id="504" name="Graphic 504" descr="IDOR access control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86000" y="1879600"/>
            <a:ext cx="406400" cy="406400"/>
          </a:xfrm>
          <a:prstGeom prst="rect">
            <a:avLst/>
          </a:prstGeom>
        </p:spPr>
      </p:pic>
      <p:pic>
        <p:nvPicPr>
          <p:cNvPr id="505" name="Graphic 505" descr="SQL injection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92800" y="1879600"/>
            <a:ext cx="406400" cy="406400"/>
          </a:xfrm>
          <a:prstGeom prst="rect">
            <a:avLst/>
          </a:prstGeom>
        </p:spPr>
      </p:pic>
      <p:pic>
        <p:nvPicPr>
          <p:cNvPr id="506" name="Graphic 506" descr="Exposed directory misconfig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99600" y="1879600"/>
            <a:ext cx="406400" cy="406400"/>
          </a:xfrm>
          <a:prstGeom prst="rect">
            <a:avLst/>
          </a:prstGeom>
        </p:spPr>
      </p:pic>
      <p:sp>
        <p:nvSpPr>
          <p:cNvPr id="4" name="TextBox 3">
            <a:extLst>
              <a:ext uri="{FF2B5EF4-FFF2-40B4-BE49-F238E27FC236}">
                <a16:creationId xmlns:a16="http://schemas.microsoft.com/office/drawing/2014/main" id="{7B44CB97-8662-B44D-15DC-91BF168328E1}"/>
              </a:ext>
            </a:extLst>
          </p:cNvPr>
          <p:cNvSpPr txBox="1"/>
          <p:nvPr/>
        </p:nvSpPr>
        <p:spPr>
          <a:xfrm>
            <a:off x="4916096" y="6581001"/>
            <a:ext cx="2188100" cy="276999"/>
          </a:xfrm>
          <a:prstGeom prst="rect">
            <a:avLst/>
          </a:prstGeom>
          <a:noFill/>
        </p:spPr>
        <p:txBody>
          <a:bodyPr wrap="none" rtlCol="0">
            <a:spAutoFit/>
          </a:bodyPr>
          <a:lstStyle/>
          <a:p>
            <a:r>
              <a:rPr lang="en-US" sz="1200" dirty="0">
                <a:solidFill>
                  <a:schemeClr val="bg2"/>
                </a:solidFill>
              </a:rPr>
              <a:t>https://</a:t>
            </a:r>
            <a:r>
              <a:rPr lang="en-US" sz="1200" dirty="0" err="1">
                <a:solidFill>
                  <a:schemeClr val="bg2"/>
                </a:solidFill>
              </a:rPr>
              <a:t>owasp.org</a:t>
            </a:r>
            <a:r>
              <a:rPr lang="en-US" sz="1200" dirty="0">
                <a:solidFill>
                  <a:schemeClr val="bg2"/>
                </a:solidFill>
              </a:rPr>
              <a:t>/Top10/2025/</a:t>
            </a:r>
          </a:p>
        </p:txBody>
      </p:sp>
    </p:spTree>
    <p:extLst>
      <p:ext uri="{BB962C8B-B14F-4D97-AF65-F5344CB8AC3E}">
        <p14:creationId xmlns:p14="http://schemas.microsoft.com/office/powerpoint/2010/main" val="2321330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11EB9-755A-21CF-60C8-7436FAB3E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382E5-E917-2A74-BDF3-E2EAF735D5B9}"/>
              </a:ext>
            </a:extLst>
          </p:cNvPr>
          <p:cNvSpPr>
            <a:spLocks noGrp="1"/>
          </p:cNvSpPr>
          <p:nvPr>
            <p:ph type="ctrTitle"/>
          </p:nvPr>
        </p:nvSpPr>
        <p:spPr/>
        <p:txBody>
          <a:bodyPr/>
          <a:lstStyle/>
          <a:p>
            <a:r>
              <a:rPr lang="en-US" dirty="0"/>
              <a:t>Exploitation Demo</a:t>
            </a:r>
          </a:p>
        </p:txBody>
      </p:sp>
    </p:spTree>
    <p:extLst>
      <p:ext uri="{BB962C8B-B14F-4D97-AF65-F5344CB8AC3E}">
        <p14:creationId xmlns:p14="http://schemas.microsoft.com/office/powerpoint/2010/main" val="3162704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D7D6-4F72-36CB-61CB-B5143CB2CA44}"/>
              </a:ext>
            </a:extLst>
          </p:cNvPr>
          <p:cNvSpPr>
            <a:spLocks noGrp="1"/>
          </p:cNvSpPr>
          <p:nvPr>
            <p:ph type="title"/>
          </p:nvPr>
        </p:nvSpPr>
        <p:spPr/>
        <p:txBody>
          <a:bodyPr/>
          <a:lstStyle/>
          <a:p>
            <a:r>
              <a:rPr lang="en-US"/>
              <a:t>Hardening &amp; Detection</a:t>
            </a:r>
            <a:endParaRPr lang="en-US" dirty="0"/>
          </a:p>
        </p:txBody>
      </p:sp>
      <p:sp>
        <p:nvSpPr>
          <p:cNvPr id="500" name="Slide Number Placeholder"/>
          <p:cNvSpPr>
            <a:spLocks noGrp="1"/>
          </p:cNvSpPr>
          <p:nvPr>
            <p:ph type="sldNum" sz="quarter" idx="12"/>
          </p:nvPr>
        </p:nvSpPr>
        <p:spPr/>
        <p:txBody>
          <a:bodyPr/>
          <a:lstStyle/>
          <a:p>
            <a:pPr algn="ctr"/>
            <a:fld id="{B33FD025-7F13-7547-89AF-6B9129FB7D4F}" type="slidenum">
              <a:rPr lang="en-US" sz="1400" b="1">
                <a:solidFill>
                  <a:srgbClr val="1863DC"/>
                </a:solidFill>
              </a:rPr>
              <a:t>9</a:t>
            </a:fld>
            <a:endParaRPr lang="en-US" sz="1400" b="1" dirty="0">
              <a:solidFill>
                <a:srgbClr val="1863DC"/>
              </a:solidFill>
            </a:endParaRPr>
          </a:p>
        </p:txBody>
      </p:sp>
      <p:graphicFrame>
        <p:nvGraphicFramePr>
          <p:cNvPr id="6" name="Table 5">
            <a:extLst>
              <a:ext uri="{FF2B5EF4-FFF2-40B4-BE49-F238E27FC236}">
                <a16:creationId xmlns:a16="http://schemas.microsoft.com/office/drawing/2014/main" id="{5921A4EA-AE0D-374F-AF3D-777F278AD234}"/>
              </a:ext>
            </a:extLst>
          </p:cNvPr>
          <p:cNvGraphicFramePr>
            <a:graphicFrameLocks noGrp="1"/>
          </p:cNvGraphicFramePr>
          <p:nvPr>
            <p:extLst>
              <p:ext uri="{D42A27DB-BD31-4B8C-83A1-F6EECF244321}">
                <p14:modId xmlns:p14="http://schemas.microsoft.com/office/powerpoint/2010/main" val="1622996502"/>
              </p:ext>
            </p:extLst>
          </p:nvPr>
        </p:nvGraphicFramePr>
        <p:xfrm>
          <a:off x="838200" y="1828800"/>
          <a:ext cx="10515600" cy="2893060"/>
        </p:xfrm>
        <a:graphic>
          <a:graphicData uri="http://schemas.openxmlformats.org/drawingml/2006/table">
            <a:tbl>
              <a:tblPr firstRow="1">
                <a:tableStyleId>{2D5ABB26-0587-4C30-8999-92F81FD0307C}</a:tableStyleId>
              </a:tblPr>
              <a:tblGrid>
                <a:gridCol w="2628900">
                  <a:extLst>
                    <a:ext uri="{9D8B030D-6E8A-4147-A177-3AD203B41FA5}">
                      <a16:colId xmlns:a16="http://schemas.microsoft.com/office/drawing/2014/main" val="1383701237"/>
                    </a:ext>
                  </a:extLst>
                </a:gridCol>
                <a:gridCol w="2628900">
                  <a:extLst>
                    <a:ext uri="{9D8B030D-6E8A-4147-A177-3AD203B41FA5}">
                      <a16:colId xmlns:a16="http://schemas.microsoft.com/office/drawing/2014/main" val="1284059477"/>
                    </a:ext>
                  </a:extLst>
                </a:gridCol>
                <a:gridCol w="2628900">
                  <a:extLst>
                    <a:ext uri="{9D8B030D-6E8A-4147-A177-3AD203B41FA5}">
                      <a16:colId xmlns:a16="http://schemas.microsoft.com/office/drawing/2014/main" val="330029028"/>
                    </a:ext>
                  </a:extLst>
                </a:gridCol>
                <a:gridCol w="2628900">
                  <a:extLst>
                    <a:ext uri="{9D8B030D-6E8A-4147-A177-3AD203B41FA5}">
                      <a16:colId xmlns:a16="http://schemas.microsoft.com/office/drawing/2014/main" val="1863919941"/>
                    </a:ext>
                  </a:extLst>
                </a:gridCol>
              </a:tblGrid>
              <a:tr h="698500">
                <a:tc>
                  <a:txBody>
                    <a:bodyPr/>
                    <a:lstStyle/>
                    <a:p>
                      <a:pPr algn="ctr"/>
                      <a:r>
                        <a:rPr lang="en-US" sz="1400" b="1">
                          <a:solidFill>
                            <a:srgbClr val="FFFFFF"/>
                          </a:solidFill>
                        </a:rPr>
                        <a:t>Vulnerability</a:t>
                      </a:r>
                    </a:p>
                  </a:txBody>
                  <a:tcPr anchor="ctr">
                    <a:lnB w="0">
                      <a:solidFill>
                        <a:srgbClr val="D9D9DF"/>
                      </a:solidFill>
                    </a:lnB>
                    <a:solidFill>
                      <a:srgbClr val="1863DC"/>
                    </a:solidFill>
                  </a:tcPr>
                </a:tc>
                <a:tc>
                  <a:txBody>
                    <a:bodyPr/>
                    <a:lstStyle/>
                    <a:p>
                      <a:pPr algn="ctr"/>
                      <a:r>
                        <a:rPr lang="en-US" sz="1400" b="1">
                          <a:solidFill>
                            <a:srgbClr val="FFFFFF"/>
                          </a:solidFill>
                        </a:rPr>
                        <a:t>Application Fix</a:t>
                      </a:r>
                    </a:p>
                  </a:txBody>
                  <a:tcPr anchor="ctr">
                    <a:lnB w="0">
                      <a:solidFill>
                        <a:srgbClr val="D9D9DF"/>
                      </a:solidFill>
                    </a:lnB>
                    <a:solidFill>
                      <a:srgbClr val="1863DC"/>
                    </a:solidFill>
                  </a:tcPr>
                </a:tc>
                <a:tc>
                  <a:txBody>
                    <a:bodyPr/>
                    <a:lstStyle/>
                    <a:p>
                      <a:pPr algn="ctr"/>
                      <a:r>
                        <a:rPr lang="en-US" sz="1400" b="1">
                          <a:solidFill>
                            <a:srgbClr val="FFFFFF"/>
                          </a:solidFill>
                        </a:rPr>
                        <a:t>K8s / Infra Control</a:t>
                      </a:r>
                    </a:p>
                  </a:txBody>
                  <a:tcPr anchor="ctr">
                    <a:lnB w="0">
                      <a:solidFill>
                        <a:srgbClr val="D9D9DF"/>
                      </a:solidFill>
                    </a:lnB>
                    <a:solidFill>
                      <a:srgbClr val="1863DC"/>
                    </a:solidFill>
                  </a:tcPr>
                </a:tc>
                <a:tc>
                  <a:txBody>
                    <a:bodyPr/>
                    <a:lstStyle/>
                    <a:p>
                      <a:pPr algn="ctr"/>
                      <a:r>
                        <a:rPr lang="en-US" sz="1400" b="1" dirty="0">
                          <a:solidFill>
                            <a:srgbClr val="FFFFFF"/>
                          </a:solidFill>
                        </a:rPr>
                        <a:t>Detection</a:t>
                      </a:r>
                    </a:p>
                  </a:txBody>
                  <a:tcPr anchor="ctr">
                    <a:lnB w="0">
                      <a:solidFill>
                        <a:srgbClr val="D9D9DF"/>
                      </a:solidFill>
                    </a:lnB>
                    <a:solidFill>
                      <a:srgbClr val="1863DC"/>
                    </a:solidFill>
                  </a:tcPr>
                </a:tc>
                <a:extLst>
                  <a:ext uri="{0D108BD9-81ED-4DB2-BD59-A6C34878D82A}">
                    <a16:rowId xmlns:a16="http://schemas.microsoft.com/office/drawing/2014/main" val="1757664774"/>
                  </a:ext>
                </a:extLst>
              </a:tr>
              <a:tr h="698500">
                <a:tc>
                  <a:txBody>
                    <a:bodyPr/>
                    <a:lstStyle/>
                    <a:p>
                      <a:pPr algn="l"/>
                      <a:r>
                        <a:rPr lang="en-US" sz="1400" b="1" dirty="0"/>
                        <a:t>IDOR</a:t>
                      </a:r>
                    </a:p>
                  </a:txBody>
                  <a:tcPr anchor="ctr">
                    <a:lnT w="0" cap="flat" cmpd="sng" algn="ctr">
                      <a:solidFill>
                        <a:srgbClr val="D9D9DF"/>
                      </a:solidFill>
                      <a:prstDash val="solid"/>
                      <a:round/>
                      <a:headEnd type="none" w="med" len="med"/>
                      <a:tailEnd type="none" w="med" len="med"/>
                    </a:lnT>
                    <a:lnB w="6350">
                      <a:solidFill>
                        <a:srgbClr val="D9D9DF"/>
                      </a:solidFill>
                    </a:lnB>
                  </a:tcPr>
                </a:tc>
                <a:tc>
                  <a:txBody>
                    <a:bodyPr/>
                    <a:lstStyle/>
                    <a:p>
                      <a:pPr algn="l"/>
                      <a:r>
                        <a:rPr lang="en-US" sz="1400"/>
                        <a:t>Server-side ownership checks on every object reference</a:t>
                      </a:r>
                    </a:p>
                  </a:txBody>
                  <a:tcPr anchor="ctr">
                    <a:lnT w="0" cap="flat" cmpd="sng" algn="ctr">
                      <a:solidFill>
                        <a:srgbClr val="D9D9DF"/>
                      </a:solidFill>
                      <a:prstDash val="solid"/>
                      <a:round/>
                      <a:headEnd type="none" w="med" len="med"/>
                      <a:tailEnd type="none" w="med" len="med"/>
                    </a:lnT>
                    <a:lnB w="6350">
                      <a:solidFill>
                        <a:srgbClr val="D9D9DF"/>
                      </a:solidFill>
                    </a:lnB>
                  </a:tcPr>
                </a:tc>
                <a:tc>
                  <a:txBody>
                    <a:bodyPr/>
                    <a:lstStyle/>
                    <a:p>
                      <a:pPr algn="l"/>
                      <a:r>
                        <a:rPr lang="en-US" sz="1300">
                          <a:latin typeface="Consolas"/>
                        </a:rPr>
                        <a:t>NetworkPolicy</a:t>
                      </a:r>
                      <a:r>
                        <a:rPr lang="en-US" sz="1400"/>
                        <a:t> limiting lateral movement if the account is compromised</a:t>
                      </a:r>
                    </a:p>
                  </a:txBody>
                  <a:tcPr anchor="ctr">
                    <a:lnT w="0" cap="flat" cmpd="sng" algn="ctr">
                      <a:solidFill>
                        <a:srgbClr val="D9D9DF"/>
                      </a:solidFill>
                      <a:prstDash val="solid"/>
                      <a:round/>
                      <a:headEnd type="none" w="med" len="med"/>
                      <a:tailEnd type="none" w="med" len="med"/>
                    </a:lnT>
                    <a:lnB w="6350">
                      <a:solidFill>
                        <a:srgbClr val="D9D9DF"/>
                      </a:solidFill>
                    </a:lnB>
                  </a:tcPr>
                </a:tc>
                <a:tc>
                  <a:txBody>
                    <a:bodyPr/>
                    <a:lstStyle/>
                    <a:p>
                      <a:pPr algn="l"/>
                      <a:r>
                        <a:rPr lang="en-US" sz="1400"/>
                        <a:t>Alert on abnormal sequential ID access patterns in app logs</a:t>
                      </a:r>
                    </a:p>
                  </a:txBody>
                  <a:tcPr anchor="ctr">
                    <a:lnT w="0" cap="flat" cmpd="sng" algn="ctr">
                      <a:solidFill>
                        <a:srgbClr val="D9D9DF"/>
                      </a:solidFill>
                      <a:prstDash val="solid"/>
                      <a:round/>
                      <a:headEnd type="none" w="med" len="med"/>
                      <a:tailEnd type="none" w="med" len="med"/>
                    </a:lnT>
                    <a:lnB w="6350">
                      <a:solidFill>
                        <a:srgbClr val="D9D9DF"/>
                      </a:solidFill>
                    </a:lnB>
                  </a:tcPr>
                </a:tc>
                <a:extLst>
                  <a:ext uri="{0D108BD9-81ED-4DB2-BD59-A6C34878D82A}">
                    <a16:rowId xmlns:a16="http://schemas.microsoft.com/office/drawing/2014/main" val="2314197698"/>
                  </a:ext>
                </a:extLst>
              </a:tr>
              <a:tr h="698500">
                <a:tc>
                  <a:txBody>
                    <a:bodyPr/>
                    <a:lstStyle/>
                    <a:p>
                      <a:pPr algn="l"/>
                      <a:r>
                        <a:rPr lang="en-US" sz="1400" b="1" dirty="0"/>
                        <a:t>SQL Injection</a:t>
                      </a:r>
                    </a:p>
                  </a:txBody>
                  <a:tcPr anchor="ctr">
                    <a:lnT w="6350" cap="flat" cmpd="sng" algn="ctr">
                      <a:solidFill>
                        <a:srgbClr val="D9D9DF"/>
                      </a:solidFill>
                      <a:prstDash val="solid"/>
                      <a:round/>
                      <a:headEnd type="none" w="med" len="med"/>
                      <a:tailEnd type="none" w="med" len="med"/>
                    </a:lnT>
                    <a:lnB w="6350">
                      <a:solidFill>
                        <a:srgbClr val="D9D9DF"/>
                      </a:solidFill>
                    </a:lnB>
                  </a:tcPr>
                </a:tc>
                <a:tc>
                  <a:txBody>
                    <a:bodyPr/>
                    <a:lstStyle/>
                    <a:p>
                      <a:pPr algn="l"/>
                      <a:r>
                        <a:rPr lang="en-US" sz="1400"/>
                        <a:t>Parameterized queries / ORM, input validation</a:t>
                      </a:r>
                    </a:p>
                  </a:txBody>
                  <a:tcPr anchor="ctr">
                    <a:lnT w="6350" cap="flat" cmpd="sng" algn="ctr">
                      <a:solidFill>
                        <a:srgbClr val="D9D9DF"/>
                      </a:solidFill>
                      <a:prstDash val="solid"/>
                      <a:round/>
                      <a:headEnd type="none" w="med" len="med"/>
                      <a:tailEnd type="none" w="med" len="med"/>
                    </a:lnT>
                    <a:lnB w="6350">
                      <a:solidFill>
                        <a:srgbClr val="D9D9DF"/>
                      </a:solidFill>
                    </a:lnB>
                  </a:tcPr>
                </a:tc>
                <a:tc>
                  <a:txBody>
                    <a:bodyPr/>
                    <a:lstStyle/>
                    <a:p>
                      <a:pPr algn="l"/>
                      <a:r>
                        <a:rPr lang="en-US" sz="1400" dirty="0"/>
                        <a:t>Least-privilege DB service account, secrets not baked into the container image</a:t>
                      </a:r>
                    </a:p>
                  </a:txBody>
                  <a:tcPr anchor="ctr">
                    <a:lnT w="6350" cap="flat" cmpd="sng" algn="ctr">
                      <a:solidFill>
                        <a:srgbClr val="D9D9DF"/>
                      </a:solidFill>
                      <a:prstDash val="solid"/>
                      <a:round/>
                      <a:headEnd type="none" w="med" len="med"/>
                      <a:tailEnd type="none" w="med" len="med"/>
                    </a:lnT>
                    <a:lnB w="6350">
                      <a:solidFill>
                        <a:srgbClr val="D9D9DF"/>
                      </a:solidFill>
                    </a:lnB>
                  </a:tcPr>
                </a:tc>
                <a:tc>
                  <a:txBody>
                    <a:bodyPr/>
                    <a:lstStyle/>
                    <a:p>
                      <a:pPr algn="l"/>
                      <a:r>
                        <a:rPr lang="en-US" sz="1400"/>
                        <a:t>WAF/API-gateway rule on SQL meta-characters in request bodies</a:t>
                      </a:r>
                    </a:p>
                  </a:txBody>
                  <a:tcPr anchor="ctr">
                    <a:lnT w="6350" cap="flat" cmpd="sng" algn="ctr">
                      <a:solidFill>
                        <a:srgbClr val="D9D9DF"/>
                      </a:solidFill>
                      <a:prstDash val="solid"/>
                      <a:round/>
                      <a:headEnd type="none" w="med" len="med"/>
                      <a:tailEnd type="none" w="med" len="med"/>
                    </a:lnT>
                    <a:lnB w="6350">
                      <a:solidFill>
                        <a:srgbClr val="D9D9DF"/>
                      </a:solidFill>
                    </a:lnB>
                  </a:tcPr>
                </a:tc>
                <a:extLst>
                  <a:ext uri="{0D108BD9-81ED-4DB2-BD59-A6C34878D82A}">
                    <a16:rowId xmlns:a16="http://schemas.microsoft.com/office/drawing/2014/main" val="2165274563"/>
                  </a:ext>
                </a:extLst>
              </a:tr>
              <a:tr h="698500">
                <a:tc>
                  <a:txBody>
                    <a:bodyPr/>
                    <a:lstStyle/>
                    <a:p>
                      <a:pPr algn="l"/>
                      <a:r>
                        <a:rPr lang="en-US" sz="1400" b="1"/>
                        <a:t>Misconfiguration</a:t>
                      </a:r>
                    </a:p>
                  </a:txBody>
                  <a:tcPr anchor="ctr">
                    <a:lnT w="6350" cap="flat" cmpd="sng" algn="ctr">
                      <a:solidFill>
                        <a:srgbClr val="D9D9DF"/>
                      </a:solidFill>
                      <a:prstDash val="solid"/>
                      <a:round/>
                      <a:headEnd type="none" w="med" len="med"/>
                      <a:tailEnd type="none" w="med" len="med"/>
                    </a:lnT>
                    <a:lnB w="6350">
                      <a:solidFill>
                        <a:srgbClr val="D9D9DF"/>
                      </a:solidFill>
                    </a:lnB>
                  </a:tcPr>
                </a:tc>
                <a:tc>
                  <a:txBody>
                    <a:bodyPr/>
                    <a:lstStyle/>
                    <a:p>
                      <a:pPr algn="l"/>
                      <a:r>
                        <a:rPr lang="en-US" sz="1400"/>
                        <a:t>Remove debug/verbose error output, restrict exposed paths</a:t>
                      </a:r>
                    </a:p>
                  </a:txBody>
                  <a:tcPr anchor="ctr">
                    <a:lnT w="6350" cap="flat" cmpd="sng" algn="ctr">
                      <a:solidFill>
                        <a:srgbClr val="D9D9DF"/>
                      </a:solidFill>
                      <a:prstDash val="solid"/>
                      <a:round/>
                      <a:headEnd type="none" w="med" len="med"/>
                      <a:tailEnd type="none" w="med" len="med"/>
                    </a:lnT>
                    <a:lnB w="6350">
                      <a:solidFill>
                        <a:srgbClr val="D9D9DF"/>
                      </a:solidFill>
                    </a:lnB>
                  </a:tcPr>
                </a:tc>
                <a:tc>
                  <a:txBody>
                    <a:bodyPr/>
                    <a:lstStyle/>
                    <a:p>
                      <a:pPr algn="l"/>
                      <a:r>
                        <a:rPr lang="en-US" sz="1400"/>
                        <a:t>Ingress-level path allowlisting, no directory listing</a:t>
                      </a:r>
                    </a:p>
                  </a:txBody>
                  <a:tcPr anchor="ctr">
                    <a:lnT w="6350" cap="flat" cmpd="sng" algn="ctr">
                      <a:solidFill>
                        <a:srgbClr val="D9D9DF"/>
                      </a:solidFill>
                      <a:prstDash val="solid"/>
                      <a:round/>
                      <a:headEnd type="none" w="med" len="med"/>
                      <a:tailEnd type="none" w="med" len="med"/>
                    </a:lnT>
                    <a:lnB w="6350">
                      <a:solidFill>
                        <a:srgbClr val="D9D9DF"/>
                      </a:solidFill>
                    </a:lnB>
                  </a:tcPr>
                </a:tc>
                <a:tc>
                  <a:txBody>
                    <a:bodyPr/>
                    <a:lstStyle/>
                    <a:p>
                      <a:pPr algn="l"/>
                      <a:r>
                        <a:rPr lang="en-US" sz="1400" dirty="0"/>
                        <a:t>Alert on requests to non-standard paths (404 spikes, </a:t>
                      </a:r>
                      <a:r>
                        <a:rPr lang="en-US" sz="1300" dirty="0">
                          <a:latin typeface="Consolas"/>
                        </a:rPr>
                        <a:t>/ftp</a:t>
                      </a:r>
                      <a:r>
                        <a:rPr lang="en-US" sz="1400" dirty="0"/>
                        <a:t> access)</a:t>
                      </a:r>
                    </a:p>
                  </a:txBody>
                  <a:tcPr anchor="ctr">
                    <a:lnT w="6350" cap="flat" cmpd="sng" algn="ctr">
                      <a:solidFill>
                        <a:srgbClr val="D9D9DF"/>
                      </a:solidFill>
                      <a:prstDash val="solid"/>
                      <a:round/>
                      <a:headEnd type="none" w="med" len="med"/>
                      <a:tailEnd type="none" w="med" len="med"/>
                    </a:lnT>
                    <a:lnB w="6350">
                      <a:solidFill>
                        <a:srgbClr val="D9D9DF"/>
                      </a:solidFill>
                    </a:lnB>
                  </a:tcPr>
                </a:tc>
                <a:extLst>
                  <a:ext uri="{0D108BD9-81ED-4DB2-BD59-A6C34878D82A}">
                    <a16:rowId xmlns:a16="http://schemas.microsoft.com/office/drawing/2014/main" val="1784027275"/>
                  </a:ext>
                </a:extLst>
              </a:tr>
            </a:tbl>
          </a:graphicData>
        </a:graphic>
      </p:graphicFrame>
      <p:sp>
        <p:nvSpPr>
          <p:cNvPr id="700" name="FalcoCallout"/>
          <p:cNvSpPr/>
          <p:nvPr/>
        </p:nvSpPr>
        <p:spPr>
          <a:xfrm>
            <a:off x="838200" y="4953000"/>
            <a:ext cx="10515600" cy="1397000"/>
          </a:xfrm>
          <a:prstGeom prst="roundRect">
            <a:avLst>
              <a:gd name="adj" fmla="val 4000"/>
            </a:avLst>
          </a:prstGeom>
          <a:solidFill>
            <a:srgbClr val="FEF5F2"/>
          </a:solidFill>
          <a:ln w="9525">
            <a:solidFill>
              <a:srgbClr val="FE977D"/>
            </a:solidFill>
          </a:ln>
        </p:spPr>
        <p:txBody>
          <a:bodyPr wrap="square" lIns="137160" tIns="91440" rIns="137160" bIns="91440" anchor="t">
            <a:normAutofit/>
          </a:bodyPr>
          <a:lstStyle/>
          <a:p>
            <a:pPr>
              <a:buNone/>
            </a:pPr>
            <a:r>
              <a:rPr lang="en-US" sz="1500" b="1" dirty="0">
                <a:solidFill>
                  <a:srgbClr val="FE977D"/>
                </a:solidFill>
              </a:rPr>
              <a:t>Falco's Boundary</a:t>
            </a:r>
          </a:p>
          <a:p>
            <a:pPr>
              <a:spcBef>
                <a:spcPts val="400"/>
              </a:spcBef>
              <a:buNone/>
            </a:pPr>
            <a:r>
              <a:rPr lang="en-US" sz="1400" dirty="0"/>
              <a:t>Falco watches kernel/syscall activity. All three exploits here are normal HTTP requests handled entirely inside container app logic with no unusual process, file read, or privilege escalation. Runtime detection is complementary to API-layer controls (WAF, input validation, access checks), not a replacement for them.</a:t>
            </a:r>
          </a:p>
        </p:txBody>
      </p:sp>
    </p:spTree>
    <p:extLst>
      <p:ext uri="{BB962C8B-B14F-4D97-AF65-F5344CB8AC3E}">
        <p14:creationId xmlns:p14="http://schemas.microsoft.com/office/powerpoint/2010/main" val="3110407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E480B-E9B5-8328-162E-F621EC0ABD27}"/>
              </a:ext>
            </a:extLst>
          </p:cNvPr>
          <p:cNvSpPr>
            <a:spLocks noGrp="1"/>
          </p:cNvSpPr>
          <p:nvPr>
            <p:ph type="title"/>
          </p:nvPr>
        </p:nvSpPr>
        <p:spPr/>
        <p:txBody>
          <a:bodyPr/>
          <a:lstStyle/>
          <a:p>
            <a:r>
              <a:rPr lang="en-US" dirty="0"/>
              <a:t>Extra Credit: Incident Response</a:t>
            </a:r>
          </a:p>
        </p:txBody>
      </p:sp>
      <p:sp>
        <p:nvSpPr>
          <p:cNvPr id="500" name="Slide Number Placeholder"/>
          <p:cNvSpPr>
            <a:spLocks noGrp="1"/>
          </p:cNvSpPr>
          <p:nvPr>
            <p:ph type="sldNum" sz="quarter" idx="12"/>
          </p:nvPr>
        </p:nvSpPr>
        <p:spPr/>
        <p:txBody>
          <a:bodyPr/>
          <a:lstStyle/>
          <a:p>
            <a:pPr algn="ctr"/>
            <a:fld id="{B33FD025-7F13-7547-89AF-6B9129FB7D4F}" type="slidenum">
              <a:rPr lang="en-US" sz="1400" b="1">
                <a:solidFill>
                  <a:srgbClr val="1863DC"/>
                </a:solidFill>
              </a:rPr>
              <a:t>10</a:t>
            </a:fld>
            <a:endParaRPr lang="en-US" sz="1400" b="1">
              <a:solidFill>
                <a:srgbClr val="1863DC"/>
              </a:solidFill>
            </a:endParaRPr>
          </a:p>
        </p:txBody>
      </p:sp>
      <p:sp>
        <p:nvSpPr>
          <p:cNvPr id="600" name="IRIntro"/>
          <p:cNvSpPr/>
          <p:nvPr/>
        </p:nvSpPr>
        <p:spPr>
          <a:xfrm>
            <a:off x="838200" y="1778000"/>
            <a:ext cx="10515600" cy="330200"/>
          </a:xfrm>
          <a:prstGeom prst="rect">
            <a:avLst/>
          </a:prstGeom>
          <a:noFill/>
          <a:ln>
            <a:noFill/>
          </a:ln>
        </p:spPr>
        <p:txBody>
          <a:bodyPr wrap="square" anchor="t"/>
          <a:lstStyle/>
          <a:p>
            <a:pPr algn="l"/>
            <a:r>
              <a:rPr lang="en-US" sz="1600" i="1" dirty="0"/>
              <a:t>If the SQLi login bypass were discovered in production (mapped roughly to the SANS incident response framework):</a:t>
            </a:r>
          </a:p>
        </p:txBody>
      </p:sp>
      <p:sp>
        <p:nvSpPr>
          <p:cNvPr id="610" name="IRStep1"/>
          <p:cNvSpPr/>
          <p:nvPr/>
        </p:nvSpPr>
        <p:spPr>
          <a:xfrm>
            <a:off x="1092200" y="2413000"/>
            <a:ext cx="1879600" cy="2794000"/>
          </a:xfrm>
          <a:prstGeom prst="roundRect">
            <a:avLst>
              <a:gd name="adj" fmla="val 6000"/>
            </a:avLst>
          </a:prstGeom>
          <a:solidFill>
            <a:srgbClr val="EEF3FC"/>
          </a:solidFill>
          <a:ln w="9525">
            <a:solidFill>
              <a:srgbClr val="1863DC"/>
            </a:solidFill>
          </a:ln>
        </p:spPr>
        <p:txBody>
          <a:bodyPr wrap="square" tIns="381000" anchor="t">
            <a:normAutofit/>
          </a:bodyPr>
          <a:lstStyle/>
          <a:p>
            <a:pPr algn="ctr"/>
            <a:r>
              <a:rPr lang="en-US" sz="2400" b="1" dirty="0">
                <a:solidFill>
                  <a:srgbClr val="1863DC"/>
                </a:solidFill>
              </a:rPr>
              <a:t>1</a:t>
            </a:r>
          </a:p>
          <a:p>
            <a:pPr algn="ctr">
              <a:spcBef>
                <a:spcPts val="400"/>
              </a:spcBef>
            </a:pPr>
            <a:r>
              <a:rPr lang="en-US" sz="1500" b="1" dirty="0"/>
              <a:t>Detect</a:t>
            </a:r>
          </a:p>
          <a:p>
            <a:pPr algn="ctr">
              <a:spcBef>
                <a:spcPts val="500"/>
              </a:spcBef>
            </a:pPr>
            <a:r>
              <a:rPr lang="en-US" sz="1300" dirty="0"/>
              <a:t>App-layer event; </a:t>
            </a:r>
            <a:br>
              <a:rPr lang="en-US" sz="1300" dirty="0"/>
            </a:br>
            <a:r>
              <a:rPr lang="en-US" sz="1300" dirty="0"/>
              <a:t>Falco can't see it. Needs a WAF rule or log monitoring.</a:t>
            </a:r>
          </a:p>
        </p:txBody>
      </p:sp>
      <p:sp>
        <p:nvSpPr>
          <p:cNvPr id="620" name="IRArrow1"/>
          <p:cNvSpPr/>
          <p:nvPr/>
        </p:nvSpPr>
        <p:spPr>
          <a:xfrm>
            <a:off x="2971800" y="3175000"/>
            <a:ext cx="152400" cy="381000"/>
          </a:xfrm>
          <a:prstGeom prst="rect">
            <a:avLst/>
          </a:prstGeom>
          <a:noFill/>
          <a:ln>
            <a:noFill/>
          </a:ln>
        </p:spPr>
        <p:txBody>
          <a:bodyPr wrap="none" anchor="ctr"/>
          <a:lstStyle/>
          <a:p>
            <a:pPr algn="ctr"/>
            <a:r>
              <a:rPr lang="en-US" sz="1600" b="1" dirty="0">
                <a:solidFill>
                  <a:srgbClr val="3451D7"/>
                </a:solidFill>
              </a:rPr>
              <a:t>→</a:t>
            </a:r>
          </a:p>
        </p:txBody>
      </p:sp>
      <p:sp>
        <p:nvSpPr>
          <p:cNvPr id="611" name="IRStep2"/>
          <p:cNvSpPr/>
          <p:nvPr/>
        </p:nvSpPr>
        <p:spPr>
          <a:xfrm>
            <a:off x="3124200" y="2413000"/>
            <a:ext cx="1879600" cy="2794000"/>
          </a:xfrm>
          <a:prstGeom prst="roundRect">
            <a:avLst>
              <a:gd name="adj" fmla="val 6000"/>
            </a:avLst>
          </a:prstGeom>
          <a:solidFill>
            <a:srgbClr val="F0F1FC"/>
          </a:solidFill>
          <a:ln w="9525">
            <a:solidFill>
              <a:srgbClr val="3451D7"/>
            </a:solidFill>
          </a:ln>
        </p:spPr>
        <p:txBody>
          <a:bodyPr wrap="square" tIns="381000" anchor="t">
            <a:normAutofit/>
          </a:bodyPr>
          <a:lstStyle/>
          <a:p>
            <a:pPr algn="ctr"/>
            <a:r>
              <a:rPr lang="en-US" sz="2400" b="1" dirty="0">
                <a:solidFill>
                  <a:srgbClr val="3451D7"/>
                </a:solidFill>
              </a:rPr>
              <a:t>2</a:t>
            </a:r>
          </a:p>
          <a:p>
            <a:pPr algn="ctr">
              <a:spcBef>
                <a:spcPts val="400"/>
              </a:spcBef>
            </a:pPr>
            <a:r>
              <a:rPr lang="en-US" sz="1500" b="1" dirty="0"/>
              <a:t>Triage</a:t>
            </a:r>
          </a:p>
          <a:p>
            <a:pPr algn="ctr">
              <a:spcBef>
                <a:spcPts val="500"/>
              </a:spcBef>
            </a:pPr>
            <a:r>
              <a:rPr lang="en-US" sz="1300" dirty="0"/>
              <a:t>Confirm scope: </a:t>
            </a:r>
            <a:br>
              <a:rPr lang="en-US" sz="1300" dirty="0"/>
            </a:br>
            <a:r>
              <a:rPr lang="en-US" sz="1300" dirty="0"/>
              <a:t>token role, what the session touched, is it still active?</a:t>
            </a:r>
          </a:p>
        </p:txBody>
      </p:sp>
      <p:sp>
        <p:nvSpPr>
          <p:cNvPr id="621" name="IRArrow2"/>
          <p:cNvSpPr/>
          <p:nvPr/>
        </p:nvSpPr>
        <p:spPr>
          <a:xfrm>
            <a:off x="5003800" y="3175000"/>
            <a:ext cx="152400" cy="381000"/>
          </a:xfrm>
          <a:prstGeom prst="rect">
            <a:avLst/>
          </a:prstGeom>
          <a:noFill/>
          <a:ln>
            <a:noFill/>
          </a:ln>
        </p:spPr>
        <p:txBody>
          <a:bodyPr wrap="none" anchor="ctr"/>
          <a:lstStyle/>
          <a:p>
            <a:pPr algn="ctr"/>
            <a:r>
              <a:rPr lang="en-US" sz="1600" b="1" dirty="0">
                <a:solidFill>
                  <a:srgbClr val="513FD2"/>
                </a:solidFill>
              </a:rPr>
              <a:t>→</a:t>
            </a:r>
          </a:p>
        </p:txBody>
      </p:sp>
      <p:sp>
        <p:nvSpPr>
          <p:cNvPr id="612" name="IRStep3"/>
          <p:cNvSpPr/>
          <p:nvPr/>
        </p:nvSpPr>
        <p:spPr>
          <a:xfrm>
            <a:off x="5156200" y="2413000"/>
            <a:ext cx="1879600" cy="2794000"/>
          </a:xfrm>
          <a:prstGeom prst="roundRect">
            <a:avLst>
              <a:gd name="adj" fmla="val 6000"/>
            </a:avLst>
          </a:prstGeom>
          <a:solidFill>
            <a:srgbClr val="F2F0FC"/>
          </a:solidFill>
          <a:ln w="9525">
            <a:solidFill>
              <a:srgbClr val="513FD2"/>
            </a:solidFill>
          </a:ln>
        </p:spPr>
        <p:txBody>
          <a:bodyPr wrap="square" tIns="381000" anchor="t">
            <a:normAutofit/>
          </a:bodyPr>
          <a:lstStyle/>
          <a:p>
            <a:pPr algn="ctr"/>
            <a:r>
              <a:rPr lang="en-US" sz="2400" b="1" dirty="0">
                <a:solidFill>
                  <a:srgbClr val="513FD2"/>
                </a:solidFill>
              </a:rPr>
              <a:t>3</a:t>
            </a:r>
          </a:p>
          <a:p>
            <a:pPr algn="ctr">
              <a:spcBef>
                <a:spcPts val="400"/>
              </a:spcBef>
            </a:pPr>
            <a:r>
              <a:rPr lang="en-US" sz="1500" b="1" dirty="0"/>
              <a:t>Contain</a:t>
            </a:r>
          </a:p>
          <a:p>
            <a:pPr algn="ctr">
              <a:spcBef>
                <a:spcPts val="500"/>
              </a:spcBef>
            </a:pPr>
            <a:r>
              <a:rPr lang="en-US" sz="1300" dirty="0"/>
              <a:t>Rotate credentials, block the route, isolate via NetworkPolicy.</a:t>
            </a:r>
          </a:p>
        </p:txBody>
      </p:sp>
      <p:sp>
        <p:nvSpPr>
          <p:cNvPr id="622" name="IRArrow3"/>
          <p:cNvSpPr/>
          <p:nvPr/>
        </p:nvSpPr>
        <p:spPr>
          <a:xfrm>
            <a:off x="7035800" y="3175000"/>
            <a:ext cx="152400" cy="381000"/>
          </a:xfrm>
          <a:prstGeom prst="rect">
            <a:avLst/>
          </a:prstGeom>
          <a:noFill/>
          <a:ln>
            <a:noFill/>
          </a:ln>
        </p:spPr>
        <p:txBody>
          <a:bodyPr wrap="none" anchor="ctr"/>
          <a:lstStyle/>
          <a:p>
            <a:pPr algn="ctr"/>
            <a:r>
              <a:rPr lang="en-US" sz="1600" b="1" dirty="0">
                <a:solidFill>
                  <a:srgbClr val="6D2DCC"/>
                </a:solidFill>
              </a:rPr>
              <a:t>→</a:t>
            </a:r>
          </a:p>
        </p:txBody>
      </p:sp>
      <p:sp>
        <p:nvSpPr>
          <p:cNvPr id="613" name="IRStep4"/>
          <p:cNvSpPr/>
          <p:nvPr/>
        </p:nvSpPr>
        <p:spPr>
          <a:xfrm>
            <a:off x="7188200" y="2413000"/>
            <a:ext cx="1879600" cy="2794000"/>
          </a:xfrm>
          <a:prstGeom prst="roundRect">
            <a:avLst>
              <a:gd name="adj" fmla="val 6000"/>
            </a:avLst>
          </a:prstGeom>
          <a:solidFill>
            <a:srgbClr val="F3EEFB"/>
          </a:solidFill>
          <a:ln w="9525">
            <a:solidFill>
              <a:srgbClr val="6D2DCC"/>
            </a:solidFill>
          </a:ln>
        </p:spPr>
        <p:txBody>
          <a:bodyPr wrap="square" tIns="381000" anchor="t">
            <a:normAutofit/>
          </a:bodyPr>
          <a:lstStyle/>
          <a:p>
            <a:pPr algn="ctr"/>
            <a:r>
              <a:rPr lang="en-US" sz="2400" b="1" dirty="0">
                <a:solidFill>
                  <a:srgbClr val="6D2DCC"/>
                </a:solidFill>
              </a:rPr>
              <a:t>4</a:t>
            </a:r>
          </a:p>
          <a:p>
            <a:pPr algn="ctr">
              <a:spcBef>
                <a:spcPts val="400"/>
              </a:spcBef>
            </a:pPr>
            <a:r>
              <a:rPr lang="en-US" sz="1500" b="1" dirty="0"/>
              <a:t>Recover</a:t>
            </a:r>
          </a:p>
          <a:p>
            <a:pPr algn="ctr">
              <a:spcBef>
                <a:spcPts val="500"/>
              </a:spcBef>
            </a:pPr>
            <a:r>
              <a:rPr lang="en-US" sz="1300" dirty="0"/>
              <a:t>Ship parameterized queries, verify the fix, restore traffic.</a:t>
            </a:r>
          </a:p>
        </p:txBody>
      </p:sp>
      <p:sp>
        <p:nvSpPr>
          <p:cNvPr id="623" name="IRArrow4"/>
          <p:cNvSpPr/>
          <p:nvPr/>
        </p:nvSpPr>
        <p:spPr>
          <a:xfrm>
            <a:off x="9067800" y="3175000"/>
            <a:ext cx="152400" cy="381000"/>
          </a:xfrm>
          <a:prstGeom prst="rect">
            <a:avLst/>
          </a:prstGeom>
          <a:noFill/>
          <a:ln>
            <a:noFill/>
          </a:ln>
        </p:spPr>
        <p:txBody>
          <a:bodyPr wrap="none" anchor="ctr"/>
          <a:lstStyle/>
          <a:p>
            <a:pPr algn="ctr"/>
            <a:r>
              <a:rPr lang="en-US" sz="1600" b="1" dirty="0">
                <a:solidFill>
                  <a:srgbClr val="7D24CC"/>
                </a:solidFill>
              </a:rPr>
              <a:t>→</a:t>
            </a:r>
          </a:p>
        </p:txBody>
      </p:sp>
      <p:sp>
        <p:nvSpPr>
          <p:cNvPr id="614" name="IRStep5"/>
          <p:cNvSpPr/>
          <p:nvPr/>
        </p:nvSpPr>
        <p:spPr>
          <a:xfrm>
            <a:off x="9220200" y="2413000"/>
            <a:ext cx="1879600" cy="2794000"/>
          </a:xfrm>
          <a:prstGeom prst="roundRect">
            <a:avLst>
              <a:gd name="adj" fmla="val 6000"/>
            </a:avLst>
          </a:prstGeom>
          <a:solidFill>
            <a:srgbClr val="F5ECFB"/>
          </a:solidFill>
          <a:ln w="9525">
            <a:solidFill>
              <a:srgbClr val="891BC7"/>
            </a:solidFill>
          </a:ln>
        </p:spPr>
        <p:txBody>
          <a:bodyPr wrap="square" tIns="381000" anchor="t">
            <a:normAutofit/>
          </a:bodyPr>
          <a:lstStyle/>
          <a:p>
            <a:pPr algn="ctr"/>
            <a:r>
              <a:rPr lang="en-US" sz="2400" b="1" dirty="0">
                <a:solidFill>
                  <a:srgbClr val="891BC7"/>
                </a:solidFill>
              </a:rPr>
              <a:t>5</a:t>
            </a:r>
          </a:p>
          <a:p>
            <a:pPr algn="ctr">
              <a:spcBef>
                <a:spcPts val="400"/>
              </a:spcBef>
            </a:pPr>
            <a:r>
              <a:rPr lang="en-US" sz="1500" b="1" dirty="0"/>
              <a:t>Learn</a:t>
            </a:r>
          </a:p>
          <a:p>
            <a:pPr algn="ctr">
              <a:spcBef>
                <a:spcPts val="500"/>
              </a:spcBef>
            </a:pPr>
            <a:r>
              <a:rPr lang="en-US" sz="1300" dirty="0"/>
              <a:t>Add a CI regression test, make the detection permanent, write it up.</a:t>
            </a:r>
          </a:p>
        </p:txBody>
      </p:sp>
      <p:sp>
        <p:nvSpPr>
          <p:cNvPr id="8" name="Oval 7">
            <a:extLst>
              <a:ext uri="{FF2B5EF4-FFF2-40B4-BE49-F238E27FC236}">
                <a16:creationId xmlns:a16="http://schemas.microsoft.com/office/drawing/2014/main" id="{78EAADFF-8ECC-B448-924C-F0F69A9964F9}"/>
              </a:ext>
            </a:extLst>
          </p:cNvPr>
          <p:cNvSpPr/>
          <p:nvPr/>
        </p:nvSpPr>
        <p:spPr>
          <a:xfrm>
            <a:off x="1816100" y="4826000"/>
            <a:ext cx="431800" cy="431800"/>
          </a:xfrm>
          <a:prstGeom prst="ellipse">
            <a:avLst/>
          </a:prstGeom>
          <a:solidFill>
            <a:srgbClr val="1863D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2DAE59D4-ED81-4247-A196-30B847E866DC}"/>
              </a:ext>
            </a:extLst>
          </p:cNvPr>
          <p:cNvSpPr/>
          <p:nvPr/>
        </p:nvSpPr>
        <p:spPr>
          <a:xfrm>
            <a:off x="3848100" y="4826000"/>
            <a:ext cx="431800" cy="431800"/>
          </a:xfrm>
          <a:prstGeom prst="ellipse">
            <a:avLst/>
          </a:prstGeom>
          <a:solidFill>
            <a:srgbClr val="3451D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Oval 9">
            <a:extLst>
              <a:ext uri="{FF2B5EF4-FFF2-40B4-BE49-F238E27FC236}">
                <a16:creationId xmlns:a16="http://schemas.microsoft.com/office/drawing/2014/main" id="{3B0C9E05-3A64-904B-BC24-EEF4F6E5D9B2}"/>
              </a:ext>
            </a:extLst>
          </p:cNvPr>
          <p:cNvSpPr/>
          <p:nvPr/>
        </p:nvSpPr>
        <p:spPr>
          <a:xfrm>
            <a:off x="5880100" y="4826000"/>
            <a:ext cx="431800" cy="431800"/>
          </a:xfrm>
          <a:prstGeom prst="ellipse">
            <a:avLst/>
          </a:prstGeom>
          <a:solidFill>
            <a:srgbClr val="513FD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Oval 10">
            <a:extLst>
              <a:ext uri="{FF2B5EF4-FFF2-40B4-BE49-F238E27FC236}">
                <a16:creationId xmlns:a16="http://schemas.microsoft.com/office/drawing/2014/main" id="{0D7B254A-CE43-3C47-BA4B-35EED26448A9}"/>
              </a:ext>
            </a:extLst>
          </p:cNvPr>
          <p:cNvSpPr/>
          <p:nvPr/>
        </p:nvSpPr>
        <p:spPr>
          <a:xfrm>
            <a:off x="7912100" y="4826000"/>
            <a:ext cx="431800" cy="431800"/>
          </a:xfrm>
          <a:prstGeom prst="ellipse">
            <a:avLst/>
          </a:prstGeom>
          <a:solidFill>
            <a:srgbClr val="6D2DC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Oval 11">
            <a:extLst>
              <a:ext uri="{FF2B5EF4-FFF2-40B4-BE49-F238E27FC236}">
                <a16:creationId xmlns:a16="http://schemas.microsoft.com/office/drawing/2014/main" id="{C8DAEA24-9D3E-4B41-9798-DC1610489166}"/>
              </a:ext>
            </a:extLst>
          </p:cNvPr>
          <p:cNvSpPr/>
          <p:nvPr/>
        </p:nvSpPr>
        <p:spPr>
          <a:xfrm>
            <a:off x="9944100" y="4826000"/>
            <a:ext cx="431800" cy="431800"/>
          </a:xfrm>
          <a:prstGeom prst="ellipse">
            <a:avLst/>
          </a:prstGeom>
          <a:solidFill>
            <a:srgbClr val="891BC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636" name="Graphic 636" descr="Detect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66900" y="4876800"/>
            <a:ext cx="330200" cy="330200"/>
          </a:xfrm>
          <a:prstGeom prst="rect">
            <a:avLst/>
          </a:prstGeom>
        </p:spPr>
      </p:pic>
      <p:pic>
        <p:nvPicPr>
          <p:cNvPr id="632" name="Graphic 632" descr="Triage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98900" y="4876800"/>
            <a:ext cx="330200" cy="330200"/>
          </a:xfrm>
          <a:prstGeom prst="rect">
            <a:avLst/>
          </a:prstGeom>
        </p:spPr>
      </p:pic>
      <p:pic>
        <p:nvPicPr>
          <p:cNvPr id="633" name="Graphic 633" descr="Contain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30900" y="4876800"/>
            <a:ext cx="330200" cy="330200"/>
          </a:xfrm>
          <a:prstGeom prst="rect">
            <a:avLst/>
          </a:prstGeom>
        </p:spPr>
      </p:pic>
      <p:pic>
        <p:nvPicPr>
          <p:cNvPr id="637" name="Graphic 637" descr="Recover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62900" y="4876800"/>
            <a:ext cx="330200" cy="330200"/>
          </a:xfrm>
          <a:prstGeom prst="rect">
            <a:avLst/>
          </a:prstGeom>
        </p:spPr>
      </p:pic>
      <p:pic>
        <p:nvPicPr>
          <p:cNvPr id="635" name="Graphic 635" descr="Learn ic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94900" y="4876800"/>
            <a:ext cx="330200" cy="330200"/>
          </a:xfrm>
          <a:prstGeom prst="rect">
            <a:avLst/>
          </a:prstGeom>
        </p:spPr>
      </p:pic>
      <p:sp>
        <p:nvSpPr>
          <p:cNvPr id="3" name="TextBox 2">
            <a:extLst>
              <a:ext uri="{FF2B5EF4-FFF2-40B4-BE49-F238E27FC236}">
                <a16:creationId xmlns:a16="http://schemas.microsoft.com/office/drawing/2014/main" id="{0DCB77A4-7E37-6CA8-CE3B-50B09265DEF1}"/>
              </a:ext>
            </a:extLst>
          </p:cNvPr>
          <p:cNvSpPr txBox="1"/>
          <p:nvPr/>
        </p:nvSpPr>
        <p:spPr>
          <a:xfrm>
            <a:off x="1092200" y="6497479"/>
            <a:ext cx="4772460" cy="246221"/>
          </a:xfrm>
          <a:prstGeom prst="rect">
            <a:avLst/>
          </a:prstGeom>
          <a:noFill/>
        </p:spPr>
        <p:txBody>
          <a:bodyPr wrap="none" rtlCol="0">
            <a:spAutoFit/>
          </a:bodyPr>
          <a:lstStyle/>
          <a:p>
            <a:r>
              <a:rPr lang="en-US" sz="1000" dirty="0">
                <a:solidFill>
                  <a:schemeClr val="bg2">
                    <a:lumMod val="60000"/>
                    <a:lumOff val="40000"/>
                  </a:schemeClr>
                </a:solidFill>
              </a:rPr>
              <a:t>Source: </a:t>
            </a:r>
            <a:r>
              <a:rPr lang="en-US" sz="1000" dirty="0">
                <a:solidFill>
                  <a:schemeClr val="bg2">
                    <a:lumMod val="60000"/>
                    <a:lumOff val="40000"/>
                  </a:schemeClr>
                </a:solidFill>
                <a:hlinkClick r:id="rId8">
                  <a:extLst>
                    <a:ext uri="{A12FA001-AC4F-418D-AE19-62706E023703}">
                      <ahyp:hlinkClr xmlns:ahyp="http://schemas.microsoft.com/office/drawing/2018/hyperlinkcolor" val="tx"/>
                    </a:ext>
                  </a:extLst>
                </a:hlinkClick>
              </a:rPr>
              <a:t>https://www.sans.org/security-resources/glossary-of-terms/incident-response</a:t>
            </a:r>
            <a:r>
              <a:rPr lang="en-US" sz="1000" dirty="0">
                <a:solidFill>
                  <a:schemeClr val="bg2">
                    <a:lumMod val="60000"/>
                    <a:lumOff val="40000"/>
                  </a:schemeClr>
                </a:solidFill>
              </a:rPr>
              <a:t> </a:t>
            </a:r>
          </a:p>
        </p:txBody>
      </p:sp>
    </p:spTree>
    <p:extLst>
      <p:ext uri="{BB962C8B-B14F-4D97-AF65-F5344CB8AC3E}">
        <p14:creationId xmlns:p14="http://schemas.microsoft.com/office/powerpoint/2010/main" val="3607346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3F141-8C31-C22B-B130-14E7E7DCC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F6AED-2CEF-EB74-1EDC-C2FC62B2F0E3}"/>
              </a:ext>
            </a:extLst>
          </p:cNvPr>
          <p:cNvSpPr>
            <a:spLocks noGrp="1"/>
          </p:cNvSpPr>
          <p:nvPr>
            <p:ph type="title"/>
          </p:nvPr>
        </p:nvSpPr>
        <p:spPr/>
        <p:txBody>
          <a:bodyPr/>
          <a:lstStyle/>
          <a:p>
            <a:r>
              <a:rPr lang="en-US" dirty="0"/>
              <a:t>Lessons Learned</a:t>
            </a:r>
          </a:p>
        </p:txBody>
      </p:sp>
      <p:sp>
        <p:nvSpPr>
          <p:cNvPr id="3" name="Content Placeholder 2">
            <a:extLst>
              <a:ext uri="{FF2B5EF4-FFF2-40B4-BE49-F238E27FC236}">
                <a16:creationId xmlns:a16="http://schemas.microsoft.com/office/drawing/2014/main" id="{D7973300-E28F-5D14-092D-95F21C499415}"/>
              </a:ext>
            </a:extLst>
          </p:cNvPr>
          <p:cNvSpPr>
            <a:spLocks noGrp="1"/>
          </p:cNvSpPr>
          <p:nvPr>
            <p:ph idx="1"/>
          </p:nvPr>
        </p:nvSpPr>
        <p:spPr>
          <a:xfrm>
            <a:off x="838200" y="1565559"/>
            <a:ext cx="10515600" cy="5008495"/>
          </a:xfrm>
        </p:spPr>
        <p:txBody>
          <a:bodyPr>
            <a:normAutofit/>
          </a:bodyPr>
          <a:lstStyle/>
          <a:p>
            <a:pPr marL="0" indent="0">
              <a:spcAft>
                <a:spcPts val="200"/>
              </a:spcAft>
              <a:buNone/>
            </a:pPr>
            <a:r>
              <a:rPr lang="en-US" sz="1500" b="1" dirty="0">
                <a:solidFill>
                  <a:srgbClr val="1863DC"/>
                </a:solidFill>
              </a:rPr>
              <a:t>1. Verify tooling is still current before building on it</a:t>
            </a:r>
          </a:p>
          <a:p>
            <a:pPr lvl="1">
              <a:spcAft>
                <a:spcPts val="500"/>
              </a:spcAft>
            </a:pPr>
            <a:r>
              <a:rPr lang="en-US" sz="1200" dirty="0"/>
              <a:t>The lab was originally built on </a:t>
            </a:r>
            <a:r>
              <a:rPr lang="en-US" sz="1100" dirty="0">
                <a:latin typeface="Consolas"/>
              </a:rPr>
              <a:t>ingress-nginx</a:t>
            </a:r>
            <a:r>
              <a:rPr lang="en-US" sz="1200" dirty="0"/>
              <a:t>, which I realized mid-lab had been officially retired months prior (😬).  Re-architected onto Gateway API via AWS LBC rather than ship something already deprecated, even though it was working fine.</a:t>
            </a:r>
          </a:p>
          <a:p>
            <a:pPr lvl="1">
              <a:spcAft>
                <a:spcPts val="500"/>
              </a:spcAft>
            </a:pPr>
            <a:r>
              <a:rPr lang="en-US" sz="1200" dirty="0"/>
              <a:t>While very minor, I originally did not provide a cluster version to </a:t>
            </a:r>
            <a:r>
              <a:rPr lang="en-US" sz="1100" dirty="0">
                <a:latin typeface="Consolas"/>
              </a:rPr>
              <a:t>eksctl</a:t>
            </a:r>
            <a:r>
              <a:rPr lang="en-US" sz="1200" dirty="0"/>
              <a:t>, which resulted in 1.34 clusters that were also very near end-of-support.</a:t>
            </a:r>
          </a:p>
          <a:p>
            <a:pPr marL="0" indent="0">
              <a:spcAft>
                <a:spcPts val="200"/>
              </a:spcAft>
              <a:buNone/>
            </a:pPr>
            <a:r>
              <a:rPr lang="en-US" sz="1500" b="1" dirty="0">
                <a:solidFill>
                  <a:srgbClr val="3E4BD5"/>
                </a:solidFill>
              </a:rPr>
              <a:t>2. Controller feature flags can be silently disabled at startup, with no error</a:t>
            </a:r>
          </a:p>
          <a:p>
            <a:pPr marL="457200" lvl="1" indent="0">
              <a:spcAft>
                <a:spcPts val="500"/>
              </a:spcAft>
              <a:buNone/>
            </a:pPr>
            <a:r>
              <a:rPr lang="en-US" sz="1200" dirty="0"/>
              <a:t>AWS LBC checks for the Gateway API CRDs once, at its own startup. Installing the controller before the CRDs left Gateway API support quietly off, no error, only a restart after the CRDs existed fixed it. Order: CRDs before controller.</a:t>
            </a:r>
          </a:p>
          <a:p>
            <a:pPr marL="0" indent="0">
              <a:spcAft>
                <a:spcPts val="200"/>
              </a:spcAft>
              <a:buNone/>
            </a:pPr>
            <a:r>
              <a:rPr lang="en-US" sz="1500" b="1" dirty="0">
                <a:solidFill>
                  <a:srgbClr val="6333CE"/>
                </a:solidFill>
              </a:rPr>
              <a:t>3. "Helm deployed" isn't the same as "pod ready"</a:t>
            </a:r>
          </a:p>
          <a:p>
            <a:pPr marL="457200" lvl="1" indent="0">
              <a:spcAft>
                <a:spcPts val="500"/>
              </a:spcAft>
              <a:buNone/>
            </a:pPr>
            <a:r>
              <a:rPr lang="en-US" sz="1200" dirty="0"/>
              <a:t>AWS LBC's admission webhook registers as soon as Helm's install is accepted, before the controller pod is actually running. Applying manifests immediately after hit a </a:t>
            </a:r>
            <a:r>
              <a:rPr lang="en-US" sz="1100" dirty="0">
                <a:latin typeface="Consolas"/>
              </a:rPr>
              <a:t>no endpoints available</a:t>
            </a:r>
            <a:r>
              <a:rPr lang="en-US" sz="1200" dirty="0"/>
              <a:t> error. Fixed with an explicit rollout status wait.</a:t>
            </a:r>
          </a:p>
          <a:p>
            <a:pPr marL="0" indent="0">
              <a:spcAft>
                <a:spcPts val="200"/>
              </a:spcAft>
              <a:buNone/>
            </a:pPr>
            <a:r>
              <a:rPr lang="en-US" sz="1500" b="1" dirty="0">
                <a:solidFill>
                  <a:srgbClr val="891BC7"/>
                </a:solidFill>
              </a:rPr>
              <a:t>4. Declarative doesn't mean order-independent</a:t>
            </a:r>
          </a:p>
          <a:p>
            <a:pPr marL="457200" lvl="1" indent="0">
              <a:buNone/>
            </a:pPr>
            <a:r>
              <a:rPr lang="en-US" sz="1100" dirty="0">
                <a:latin typeface="Consolas"/>
              </a:rPr>
              <a:t>kubectl apply -f manifests/</a:t>
            </a:r>
            <a:r>
              <a:rPr lang="en-US" sz="1200" dirty="0"/>
              <a:t> applies files alphabetically, not by dependency. A Deployment referencing a not-yet-created namespace failed on the first full apply. Fixed with numeric filename prefixes.</a:t>
            </a:r>
          </a:p>
          <a:p>
            <a:pPr marL="0" indent="0">
              <a:buNone/>
            </a:pPr>
            <a:r>
              <a:rPr lang="en-US" sz="1500" b="1" dirty="0">
                <a:solidFill>
                  <a:schemeClr val="accent3">
                    <a:lumMod val="50000"/>
                  </a:schemeClr>
                </a:solidFill>
              </a:rPr>
              <a:t>5. Don’t assume AI proficiency</a:t>
            </a:r>
          </a:p>
          <a:p>
            <a:pPr marL="457200" lvl="1" indent="0">
              <a:buNone/>
            </a:pPr>
            <a:r>
              <a:rPr lang="en-US" sz="1200" dirty="0"/>
              <a:t>Not everything needs a GPU.  A workflow or process speedbump presents an opportunity to a novice to iterate or an expert to make an informed decision based on experience.  One of those is both quicker and more accurate, not to mention more carbon-neutral.  Sonnet 5’s understanding of k8s-related CLI tooling is fine to scaffold with, but not to rely on.  </a:t>
            </a:r>
          </a:p>
        </p:txBody>
      </p:sp>
      <p:sp>
        <p:nvSpPr>
          <p:cNvPr id="500" name="Slide Number Placeholder">
            <a:extLst>
              <a:ext uri="{FF2B5EF4-FFF2-40B4-BE49-F238E27FC236}">
                <a16:creationId xmlns:a16="http://schemas.microsoft.com/office/drawing/2014/main" id="{2950EA4D-6BD6-0720-BE00-0913D15984E4}"/>
              </a:ext>
            </a:extLst>
          </p:cNvPr>
          <p:cNvSpPr>
            <a:spLocks noGrp="1"/>
          </p:cNvSpPr>
          <p:nvPr>
            <p:ph type="sldNum" sz="quarter" idx="12"/>
          </p:nvPr>
        </p:nvSpPr>
        <p:spPr/>
        <p:txBody>
          <a:bodyPr/>
          <a:lstStyle/>
          <a:p>
            <a:pPr algn="ctr"/>
            <a:fld id="{B33FD025-7F13-7547-89AF-6B9129FB7D4F}" type="slidenum">
              <a:rPr lang="en-US" sz="1400" b="1">
                <a:solidFill>
                  <a:srgbClr val="1863DC"/>
                </a:solidFill>
              </a:rPr>
              <a:t>11</a:t>
            </a:fld>
            <a:endParaRPr lang="en-US" sz="1400" b="1">
              <a:solidFill>
                <a:srgbClr val="1863DC"/>
              </a:solidFill>
            </a:endParaRPr>
          </a:p>
        </p:txBody>
      </p:sp>
    </p:spTree>
    <p:extLst>
      <p:ext uri="{BB962C8B-B14F-4D97-AF65-F5344CB8AC3E}">
        <p14:creationId xmlns:p14="http://schemas.microsoft.com/office/powerpoint/2010/main" val="3540831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1C417-9D66-1C34-A14D-ACEA413DB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C67FD-F480-B7B9-57C8-CA004BCA974F}"/>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022674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3D563-E95C-2D9D-E614-6DF1886B3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5507B-F5F4-02D2-2538-31B482BDE346}"/>
              </a:ext>
            </a:extLst>
          </p:cNvPr>
          <p:cNvSpPr>
            <a:spLocks noGrp="1"/>
          </p:cNvSpPr>
          <p:nvPr>
            <p:ph type="ctrTitle"/>
          </p:nvPr>
        </p:nvSpPr>
        <p:spPr/>
        <p:txBody>
          <a:bodyPr/>
          <a:lstStyle/>
          <a:p>
            <a:r>
              <a:rPr lang="en-US" dirty="0"/>
              <a:t>Appendix</a:t>
            </a:r>
          </a:p>
        </p:txBody>
      </p:sp>
    </p:spTree>
    <p:extLst>
      <p:ext uri="{BB962C8B-B14F-4D97-AF65-F5344CB8AC3E}">
        <p14:creationId xmlns:p14="http://schemas.microsoft.com/office/powerpoint/2010/main" val="1649848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305CE-F18B-228B-2A56-D84F1E1E9D78}"/>
              </a:ext>
            </a:extLst>
          </p:cNvPr>
          <p:cNvSpPr>
            <a:spLocks noGrp="1"/>
          </p:cNvSpPr>
          <p:nvPr>
            <p:ph type="title"/>
          </p:nvPr>
        </p:nvSpPr>
        <p:spPr/>
        <p:txBody>
          <a:bodyPr/>
          <a:lstStyle/>
          <a:p>
            <a:r>
              <a:rPr lang="en-US" dirty="0"/>
              <a:t>Lab Resources</a:t>
            </a:r>
          </a:p>
        </p:txBody>
      </p:sp>
      <p:sp>
        <p:nvSpPr>
          <p:cNvPr id="3" name="Content Placeholder 2">
            <a:extLst>
              <a:ext uri="{FF2B5EF4-FFF2-40B4-BE49-F238E27FC236}">
                <a16:creationId xmlns:a16="http://schemas.microsoft.com/office/drawing/2014/main" id="{DAF02210-DDC1-8DC2-4B86-502697869381}"/>
              </a:ext>
            </a:extLst>
          </p:cNvPr>
          <p:cNvSpPr>
            <a:spLocks noGrp="1"/>
          </p:cNvSpPr>
          <p:nvPr>
            <p:ph idx="1"/>
          </p:nvPr>
        </p:nvSpPr>
        <p:spPr/>
        <p:txBody>
          <a:bodyPr/>
          <a:lstStyle/>
          <a:p>
            <a:r>
              <a:rPr lang="en-US" dirty="0"/>
              <a:t>Lab Assets:  </a:t>
            </a:r>
            <a:r>
              <a:rPr lang="en-US" dirty="0">
                <a:hlinkClick r:id="rId3"/>
              </a:rPr>
              <a:t>https://github.com/economycomfort/upwind-sa-lab</a:t>
            </a:r>
            <a:br>
              <a:rPr lang="en-US" dirty="0"/>
            </a:br>
            <a:endParaRPr lang="en-US" dirty="0"/>
          </a:p>
          <a:p>
            <a:r>
              <a:rPr lang="en-US" dirty="0"/>
              <a:t>Exploit and lab recordings: </a:t>
            </a:r>
            <a:r>
              <a:rPr lang="en-US" dirty="0">
                <a:hlinkClick r:id="rId4"/>
              </a:rPr>
              <a:t>https://drive.google.com/drive/folders/1dxv0Gircm8qBIaSG3OWoAefVsSxF1Y1N?usp=sharing</a:t>
            </a:r>
            <a:r>
              <a:rPr lang="en-US" dirty="0"/>
              <a:t> </a:t>
            </a:r>
          </a:p>
        </p:txBody>
      </p:sp>
    </p:spTree>
    <p:extLst>
      <p:ext uri="{BB962C8B-B14F-4D97-AF65-F5344CB8AC3E}">
        <p14:creationId xmlns:p14="http://schemas.microsoft.com/office/powerpoint/2010/main" val="3305207249"/>
      </p:ext>
    </p:extLst>
  </p:cSld>
  <p:clrMapOvr>
    <a:masterClrMapping/>
  </p:clrMapOvr>
</p:sld>
</file>

<file path=ppt/theme/theme1.xml><?xml version="1.0" encoding="utf-8"?>
<a:theme xmlns:a="http://schemas.openxmlformats.org/drawingml/2006/main" name="Office Theme [1788291213444]">
  <a:themeElements>
    <a:clrScheme name="Office">
      <a:dk1>
        <a:srgbClr val="12141C"/>
      </a:dk1>
      <a:lt1>
        <a:srgbClr val="F5F6FA"/>
      </a:lt1>
      <a:dk2>
        <a:srgbClr val="12141C"/>
      </a:dk2>
      <a:lt2>
        <a:srgbClr val="8A93A6"/>
      </a:lt2>
      <a:accent1>
        <a:srgbClr val="1863DC"/>
      </a:accent1>
      <a:accent2>
        <a:srgbClr val="FE977D"/>
      </a:accent2>
      <a:accent3>
        <a:srgbClr val="891BC7"/>
      </a:accent3>
      <a:accent4>
        <a:srgbClr val="4A8CF0"/>
      </a:accent4>
      <a:accent5>
        <a:srgbClr val="FDB69E"/>
      </a:accent5>
      <a:accent6>
        <a:srgbClr val="B266E0"/>
      </a:accent6>
      <a:hlink>
        <a:srgbClr val="467886"/>
      </a:hlink>
      <a:folHlink>
        <a:srgbClr val="96607D"/>
      </a:folHlink>
    </a:clrScheme>
    <a:fontScheme name="Office">
      <a:majorFont>
        <a:latin typeface="Inter"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F7592AC-7D09-2240-A1CA-9FA246E49DCD}">
  <we:reference id="WA200010725" version="1.0.0.1" store="Omex" storeType="OMEX"/>
  <we:alternateReferences>
    <we:reference id="WA200010725" version="1.0.0.1" store="WA200010725" storeType="OMEX"/>
  </we:alternateReferences>
  <we:properties>
    <we:property name="claude.fileId" value="&quot;e5902bf1-01a2-4412-93d7-b199715bde9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9137</TotalTime>
  <Words>1337</Words>
  <Application>Microsoft Macintosh PowerPoint</Application>
  <PresentationFormat>Widescreen</PresentationFormat>
  <Paragraphs>172</Paragraphs>
  <Slides>14</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Baguet Script</vt:lpstr>
      <vt:lpstr>Consolas</vt:lpstr>
      <vt:lpstr>Inter</vt:lpstr>
      <vt:lpstr>Menlo</vt:lpstr>
      <vt:lpstr>Office Theme [1788291213444]</vt:lpstr>
      <vt:lpstr>Upwind SA Lab</vt:lpstr>
      <vt:lpstr>$ whoami</vt:lpstr>
      <vt:lpstr>Overview</vt:lpstr>
      <vt:lpstr>PowerPoint Presentation</vt:lpstr>
      <vt:lpstr>Design Tradeoffs</vt:lpstr>
      <vt:lpstr>Deployment</vt:lpstr>
      <vt:lpstr>Exploitation Examples</vt:lpstr>
      <vt:lpstr>Exploitation Demo</vt:lpstr>
      <vt:lpstr>Hardening &amp; Detection</vt:lpstr>
      <vt:lpstr>Extra Credit: Incident Response</vt:lpstr>
      <vt:lpstr>Lessons Learned</vt:lpstr>
      <vt:lpstr>Thank You!</vt:lpstr>
      <vt:lpstr>Appendix</vt:lpstr>
      <vt:lpstr>Lab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Brooks</dc:creator>
  <cp:lastModifiedBy>David Brooks</cp:lastModifiedBy>
  <cp:revision>36</cp:revision>
  <dcterms:created xsi:type="dcterms:W3CDTF">2026-08-28T18:49:27Z</dcterms:created>
  <dcterms:modified xsi:type="dcterms:W3CDTF">2026-09-04T03:06:33Z</dcterms:modified>
</cp:coreProperties>
</file>